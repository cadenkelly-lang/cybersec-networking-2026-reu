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y="5143500" cx="9144000"/>
  <p:notesSz cx="6858000" cy="9144000"/>
  <p:embeddedFontLst>
    <p:embeddedFont>
      <p:font typeface="Helvetica Neue"/>
      <p:regular r:id="rId41"/>
      <p:bold r:id="rId42"/>
      <p:italic r:id="rId43"/>
      <p:boldItalic r:id="rId44"/>
    </p:embeddedFont>
    <p:embeddedFont>
      <p:font typeface="Helvetica Neue Light"/>
      <p:regular r:id="rId45"/>
      <p:bold r:id="rId46"/>
      <p:italic r:id="rId47"/>
      <p:boldItalic r:id="rId48"/>
    </p:embeddedFont>
    <p:embeddedFont>
      <p:font typeface="Century Gothic"/>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Caden Kelly"/>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font" Target="fonts/HelveticaNeue-bold.fntdata"/><Relationship Id="rId41" Type="http://schemas.openxmlformats.org/officeDocument/2006/relationships/font" Target="fonts/HelveticaNeue-regular.fntdata"/><Relationship Id="rId44" Type="http://schemas.openxmlformats.org/officeDocument/2006/relationships/font" Target="fonts/HelveticaNeue-boldItalic.fntdata"/><Relationship Id="rId43" Type="http://schemas.openxmlformats.org/officeDocument/2006/relationships/font" Target="fonts/HelveticaNeue-italic.fntdata"/><Relationship Id="rId46" Type="http://schemas.openxmlformats.org/officeDocument/2006/relationships/font" Target="fonts/HelveticaNeueLight-bold.fntdata"/><Relationship Id="rId45" Type="http://schemas.openxmlformats.org/officeDocument/2006/relationships/font" Target="fonts/HelveticaNeue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48" Type="http://schemas.openxmlformats.org/officeDocument/2006/relationships/font" Target="fonts/HelveticaNeueLight-boldItalic.fntdata"/><Relationship Id="rId47" Type="http://schemas.openxmlformats.org/officeDocument/2006/relationships/font" Target="fonts/HelveticaNeueLight-italic.fntdata"/><Relationship Id="rId49" Type="http://schemas.openxmlformats.org/officeDocument/2006/relationships/font" Target="fonts/CenturyGothic-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CenturyGothic-italic.fntdata"/><Relationship Id="rId50" Type="http://schemas.openxmlformats.org/officeDocument/2006/relationships/font" Target="fonts/CenturyGothic-bold.fntdata"/><Relationship Id="rId52" Type="http://schemas.openxmlformats.org/officeDocument/2006/relationships/font" Target="fonts/CenturyGothic-bol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04T21:47:31.728">
    <p:pos x="1760" y="798"/>
    <p:text>starting with simple switch then getting into the training ground; not starting there, like maybe having a M0</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8-05T17:44:45.517">
    <p:pos x="6000" y="0"/>
    <p:text>No time - 9 minutes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8-05T17:44:32.182">
    <p:pos x="6000" y="0"/>
    <p:text>No time- only 9 minutes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etresearch.onlinelibrary.wiley.com/doi/10.1049/stg2.70070" TargetMode="External"/><Relationship Id="rId3" Type="http://schemas.openxmlformats.org/officeDocument/2006/relationships/hyperlink" Target="https://www.icck.org/article/abs/TEPNS.2026.258528" TargetMode="External"/><Relationship Id="rId4" Type="http://schemas.openxmlformats.org/officeDocument/2006/relationships/hyperlink" Target="https://www.nature.com/articles/s44287-025-00189-z"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etresearch.onlinelibrary.wiley.com/doi/10.1049/stg2.70070" TargetMode="External"/><Relationship Id="rId3" Type="http://schemas.openxmlformats.org/officeDocument/2006/relationships/hyperlink" Target="https://www.icck.org/article/abs/TEPNS.2026.258528" TargetMode="External"/><Relationship Id="rId4" Type="http://schemas.openxmlformats.org/officeDocument/2006/relationships/hyperlink" Target="https://www.nature.com/articles/s44287-025-00189-z"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21084275ec_2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g121084275ec_2_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Name project (for IT group tell them IK they know but practicing for end of summer) PORTABLE</a:t>
            </a:r>
            <a:br>
              <a:rPr lang="en"/>
            </a:br>
            <a:r>
              <a:rPr lang="en"/>
              <a:t>Example of why OT vs IT is different; it is like offic ennetwork</a:t>
            </a:r>
            <a:endParaRPr/>
          </a:p>
          <a:p>
            <a:pPr indent="0" lvl="0" marL="0" rtl="0" algn="l">
              <a:spcBef>
                <a:spcPts val="0"/>
              </a:spcBef>
              <a:spcAft>
                <a:spcPts val="0"/>
              </a:spcAft>
              <a:buNone/>
            </a:pPr>
            <a:r>
              <a:rPr lang="en"/>
              <a:t>Examples of IT, OT</a:t>
            </a:r>
            <a:endParaRPr/>
          </a:p>
          <a:p>
            <a:pPr indent="0" lvl="0" marL="0" rtl="0" algn="l">
              <a:spcBef>
                <a:spcPts val="0"/>
              </a:spcBef>
              <a:spcAft>
                <a:spcPts val="0"/>
              </a:spcAft>
              <a:buNone/>
            </a:pPr>
            <a:r>
              <a:rPr lang="en"/>
              <a:t>OT is energy system networks included </a:t>
            </a:r>
            <a:r>
              <a:rPr lang="en"/>
              <a:t>because</a:t>
            </a:r>
            <a:r>
              <a:rPr lang="en"/>
              <a:t> OT is industrial system networks, not general</a:t>
            </a:r>
            <a:endParaRPr/>
          </a:p>
          <a:p>
            <a:pPr indent="0" lvl="0" marL="0" rtl="0" algn="l">
              <a:spcBef>
                <a:spcPts val="0"/>
              </a:spcBef>
              <a:spcAft>
                <a:spcPts val="0"/>
              </a:spcAft>
              <a:buNone/>
            </a:pPr>
            <a:r>
              <a:rPr lang="en"/>
              <a:t>Most of my work applies to both, but the motivation is </a:t>
            </a:r>
            <a:r>
              <a:rPr lang="en"/>
              <a:t>because</a:t>
            </a:r>
            <a:r>
              <a:rPr lang="en"/>
              <a:t> of OT</a:t>
            </a:r>
            <a:endParaRPr/>
          </a:p>
        </p:txBody>
      </p:sp>
      <p:sp>
        <p:nvSpPr>
          <p:cNvPr id="128" name="Google Shape;128;g121084275ec_2_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21084275ec_2_8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Timing recs:</a:t>
            </a:r>
            <a:endParaRPr/>
          </a:p>
          <a:p>
            <a:pPr indent="0" lvl="0" marL="0" rtl="0" algn="l">
              <a:spcBef>
                <a:spcPts val="0"/>
              </a:spcBef>
              <a:spcAft>
                <a:spcPts val="0"/>
              </a:spcAft>
              <a:buNone/>
            </a:pPr>
            <a:r>
              <a:rPr lang="en"/>
              <a:t>30 sec</a:t>
            </a:r>
            <a:endParaRPr/>
          </a:p>
          <a:p>
            <a:pPr indent="0" lvl="0" marL="0" rtl="0" algn="l">
              <a:spcBef>
                <a:spcPts val="0"/>
              </a:spcBef>
              <a:spcAft>
                <a:spcPts val="0"/>
              </a:spcAft>
              <a:buNone/>
            </a:pPr>
            <a:r>
              <a:rPr lang="en"/>
              <a:t>30 sec</a:t>
            </a:r>
            <a:endParaRPr/>
          </a:p>
          <a:p>
            <a:pPr indent="0" lvl="0" marL="0" rtl="0" algn="l">
              <a:spcBef>
                <a:spcPts val="0"/>
              </a:spcBef>
              <a:spcAft>
                <a:spcPts val="0"/>
              </a:spcAft>
              <a:buNone/>
            </a:pPr>
            <a:r>
              <a:rPr lang="en"/>
              <a:t>1 min</a:t>
            </a:r>
            <a:endParaRPr/>
          </a:p>
          <a:p>
            <a:pPr indent="0" lvl="0" marL="0" rtl="0" algn="l">
              <a:spcBef>
                <a:spcPts val="0"/>
              </a:spcBef>
              <a:spcAft>
                <a:spcPts val="0"/>
              </a:spcAft>
              <a:buNone/>
            </a:pPr>
            <a:r>
              <a:rPr lang="en"/>
              <a:t>3 min</a:t>
            </a:r>
            <a:endParaRPr/>
          </a:p>
          <a:p>
            <a:pPr indent="0" lvl="0" marL="0" rtl="0" algn="l">
              <a:spcBef>
                <a:spcPts val="0"/>
              </a:spcBef>
              <a:spcAft>
                <a:spcPts val="0"/>
              </a:spcAft>
              <a:buNone/>
            </a:pPr>
            <a:r>
              <a:rPr lang="en"/>
              <a:t>2 min</a:t>
            </a:r>
            <a:endParaRPr/>
          </a:p>
          <a:p>
            <a:pPr indent="0" lvl="0" marL="0" rtl="0" algn="l">
              <a:spcBef>
                <a:spcPts val="0"/>
              </a:spcBef>
              <a:spcAft>
                <a:spcPts val="0"/>
              </a:spcAft>
              <a:buNone/>
            </a:pPr>
            <a:r>
              <a:rPr lang="en"/>
              <a:t>2 min</a:t>
            </a:r>
            <a:endParaRPr/>
          </a:p>
        </p:txBody>
      </p:sp>
      <p:sp>
        <p:nvSpPr>
          <p:cNvPr id="141" name="Google Shape;141;g121084275ec_2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571c9a049_0_7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https://ietresearch.onlinelibrary.wiley.com/doi/10.1049/stg2.70070</a:t>
            </a:r>
            <a:br>
              <a:rPr lang="en"/>
            </a:br>
            <a:r>
              <a:rPr lang="en" u="sng">
                <a:solidFill>
                  <a:schemeClr val="hlink"/>
                </a:solidFill>
                <a:hlinkClick r:id="rId3"/>
              </a:rPr>
              <a:t>https://www.icck.org/article/abs/TEPNS.2026.258528</a:t>
            </a:r>
            <a:endParaRPr/>
          </a:p>
          <a:p>
            <a:pPr indent="0" lvl="0" marL="0" rtl="0" algn="l">
              <a:spcBef>
                <a:spcPts val="0"/>
              </a:spcBef>
              <a:spcAft>
                <a:spcPts val="0"/>
              </a:spcAft>
              <a:buNone/>
            </a:pPr>
            <a:r>
              <a:rPr lang="en"/>
              <a:t>Security explanation needs to be explained more bc less </a:t>
            </a:r>
            <a:r>
              <a:rPr lang="en"/>
              <a:t>intuitive</a:t>
            </a:r>
            <a:r>
              <a:rPr lang="en"/>
              <a:t> than not much resources</a:t>
            </a:r>
            <a:endParaRPr/>
          </a:p>
          <a:p>
            <a:pPr indent="0" lvl="0" marL="0" rtl="0" algn="l">
              <a:spcBef>
                <a:spcPts val="0"/>
              </a:spcBef>
              <a:spcAft>
                <a:spcPts val="0"/>
              </a:spcAft>
              <a:buNone/>
            </a:pPr>
            <a:r>
              <a:rPr lang="en" u="sng">
                <a:solidFill>
                  <a:schemeClr val="hlink"/>
                </a:solidFill>
                <a:hlinkClick r:id="rId4"/>
              </a:rPr>
              <a:t>https://www.nature.com/articles/s44287-025-00189-z</a:t>
            </a:r>
            <a:endParaRPr/>
          </a:p>
        </p:txBody>
      </p:sp>
      <p:sp>
        <p:nvSpPr>
          <p:cNvPr id="152" name="Google Shape;152;g3f571c9a049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571c9a04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f571c9a04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Segmented is biggest bang for buck to move needle; if asked a question can talk about the behind the meter paper/how applies home. Groupchat nanalogy</a:t>
            </a:r>
            <a:endParaRPr b="1"/>
          </a:p>
          <a:p>
            <a:pPr indent="0" lvl="0" marL="0" rtl="0" algn="l">
              <a:spcBef>
                <a:spcPts val="0"/>
              </a:spcBef>
              <a:spcAft>
                <a:spcPts val="0"/>
              </a:spcAft>
              <a:buNone/>
            </a:pPr>
            <a:r>
              <a:rPr lang="en"/>
              <a:t>Discuss the firewall/network segmentation issues here in a way most can understand</a:t>
            </a:r>
            <a:endParaRPr/>
          </a:p>
          <a:p>
            <a:pPr indent="0" lvl="0" marL="0" rtl="0" algn="l">
              <a:spcBef>
                <a:spcPts val="0"/>
              </a:spcBef>
              <a:spcAft>
                <a:spcPts val="0"/>
              </a:spcAft>
              <a:buNone/>
            </a:pPr>
            <a:r>
              <a:rPr lang="en"/>
              <a:t>On right side talk about it as a quarantine to limit/isolate systems scope of attack</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65ae7a74b_1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https://ietresearch.onlinelibrary.wiley.com/doi/10.1049/stg2.70070</a:t>
            </a:r>
            <a:br>
              <a:rPr lang="en"/>
            </a:br>
            <a:r>
              <a:rPr lang="en" u="sng">
                <a:solidFill>
                  <a:schemeClr val="hlink"/>
                </a:solidFill>
                <a:hlinkClick r:id="rId3"/>
              </a:rPr>
              <a:t>https://www.icck.org/article/abs/TEPNS.2026.258528</a:t>
            </a:r>
            <a:endParaRPr/>
          </a:p>
          <a:p>
            <a:pPr indent="0" lvl="0" marL="0" rtl="0" algn="l">
              <a:spcBef>
                <a:spcPts val="0"/>
              </a:spcBef>
              <a:spcAft>
                <a:spcPts val="0"/>
              </a:spcAft>
              <a:buNone/>
            </a:pPr>
            <a:r>
              <a:rPr lang="en"/>
              <a:t>Security explanation needs to be explained more bc less intuitive than not much resources</a:t>
            </a:r>
            <a:endParaRPr/>
          </a:p>
          <a:p>
            <a:pPr indent="0" lvl="0" marL="0" rtl="0" algn="l">
              <a:spcBef>
                <a:spcPts val="0"/>
              </a:spcBef>
              <a:spcAft>
                <a:spcPts val="0"/>
              </a:spcAft>
              <a:buNone/>
            </a:pPr>
            <a:r>
              <a:rPr lang="en" u="sng">
                <a:solidFill>
                  <a:schemeClr val="hlink"/>
                </a:solidFill>
                <a:hlinkClick r:id="rId4"/>
              </a:rPr>
              <a:t>https://www.nature.com/articles/s44287-025-00189-z</a:t>
            </a:r>
            <a:endParaRPr/>
          </a:p>
        </p:txBody>
      </p:sp>
      <p:sp>
        <p:nvSpPr>
          <p:cNvPr id="172" name="Google Shape;172;g3f65ae7a74b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571c9a04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571c9a04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addition to these issues, we wnat to create a solution that is portable; easy to give access and show this cost effective solution to many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3ead38239f_0_2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lang="en"/>
              <a:t>I am </a:t>
            </a:r>
            <a:r>
              <a:rPr lang="en"/>
              <a:t>developing</a:t>
            </a:r>
            <a:r>
              <a:rPr lang="en"/>
              <a:t> the resources to be </a:t>
            </a:r>
            <a:r>
              <a:rPr lang="en"/>
              <a:t>disseminated</a:t>
            </a:r>
            <a:r>
              <a:rPr lang="en"/>
              <a:t>; did some very </a:t>
            </a:r>
            <a:r>
              <a:rPr lang="en"/>
              <a:t>early</a:t>
            </a:r>
            <a:r>
              <a:rPr lang="en"/>
              <a:t> beta testing. The solution is meant, as </a:t>
            </a:r>
            <a:r>
              <a:rPr lang="en"/>
              <a:t>just</a:t>
            </a:r>
            <a:r>
              <a:rPr lang="en"/>
              <a:t> </a:t>
            </a:r>
            <a:r>
              <a:rPr lang="en"/>
              <a:t>discussed</a:t>
            </a:r>
            <a:r>
              <a:rPr lang="en"/>
              <a:t> to be cost effective as a new solution for rural Alaskan’s. This can also be deployed to other groups, however</a:t>
            </a:r>
            <a:endParaRPr/>
          </a:p>
          <a:p>
            <a:pPr indent="-298450" lvl="0" marL="457200" rtl="0" algn="l">
              <a:spcBef>
                <a:spcPts val="0"/>
              </a:spcBef>
              <a:spcAft>
                <a:spcPts val="0"/>
              </a:spcAft>
              <a:buSzPts val="1100"/>
              <a:buAutoNum type="arabicParenR"/>
            </a:pPr>
            <a:r>
              <a:rPr lang="en"/>
              <a:t>Self explanatory; developing the security systems to help them last </a:t>
            </a:r>
            <a:endParaRPr/>
          </a:p>
        </p:txBody>
      </p:sp>
      <p:sp>
        <p:nvSpPr>
          <p:cNvPr id="194" name="Google Shape;194;g13ead38239f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65ae7a74b_1_1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lang="en"/>
              <a:t>I am developing the resources to be disseminated; did some very early beta testing. The solution is meant, as just discussed to be cost effective as a new solution for rural Alaskan’s. This can also be deployed to other groups, however</a:t>
            </a:r>
            <a:endParaRPr/>
          </a:p>
          <a:p>
            <a:pPr indent="-298450" lvl="0" marL="457200" rtl="0" algn="l">
              <a:spcBef>
                <a:spcPts val="0"/>
              </a:spcBef>
              <a:spcAft>
                <a:spcPts val="0"/>
              </a:spcAft>
              <a:buSzPts val="1100"/>
              <a:buAutoNum type="arabicParenR"/>
            </a:pPr>
            <a:r>
              <a:rPr lang="en"/>
              <a:t>Self explanatory; developing the security systems to help them last </a:t>
            </a:r>
            <a:endParaRPr/>
          </a:p>
        </p:txBody>
      </p:sp>
      <p:sp>
        <p:nvSpPr>
          <p:cNvPr id="207" name="Google Shape;207;g3f65ae7a74b_1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576fc5a5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f576fc5a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 how I built the cage, and that this is what it looked like while messy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f576fc5a59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f576fc5a59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are equivalent. </a:t>
            </a:r>
            <a:endParaRPr/>
          </a:p>
          <a:p>
            <a:pPr indent="0" lvl="0" marL="0" rtl="0" algn="l">
              <a:spcBef>
                <a:spcPts val="0"/>
              </a:spcBef>
              <a:spcAft>
                <a:spcPts val="0"/>
              </a:spcAft>
              <a:buNone/>
            </a:pPr>
            <a:r>
              <a:rPr lang="en"/>
              <a:t>Four boxes are servers are a software i burned onto a usb then </a:t>
            </a:r>
            <a:r>
              <a:rPr lang="en"/>
              <a:t>uploaded</a:t>
            </a:r>
            <a:r>
              <a:rPr lang="en"/>
              <a:t> to the computers. They handled all the virtual computers that students use in the training modules</a:t>
            </a:r>
            <a:endParaRPr/>
          </a:p>
          <a:p>
            <a:pPr indent="0" lvl="0" marL="0" rtl="0" algn="l">
              <a:spcBef>
                <a:spcPts val="0"/>
              </a:spcBef>
              <a:spcAft>
                <a:spcPts val="0"/>
              </a:spcAft>
              <a:buNone/>
            </a:pPr>
            <a:r>
              <a:rPr lang="en"/>
              <a:t>Color coding not perfect with wires</a:t>
            </a:r>
            <a:endParaRPr/>
          </a:p>
          <a:p>
            <a:pPr indent="0" lvl="0" marL="0" rtl="0" algn="l">
              <a:spcBef>
                <a:spcPts val="0"/>
              </a:spcBef>
              <a:spcAft>
                <a:spcPts val="0"/>
              </a:spcAft>
              <a:buNone/>
            </a:pPr>
            <a:r>
              <a:rPr lang="en"/>
              <a:t>The diagram’s red is transporting virtual communication channels for the students to interact on; these are segmented networks, that have firewalls as virtual computers in the software system; the firewalls aren’t in the diagram because they </a:t>
            </a:r>
            <a:r>
              <a:rPr lang="en"/>
              <a:t>only</a:t>
            </a:r>
            <a:r>
              <a:rPr lang="en"/>
              <a:t> exist in software. But everything talks along the red mostly.</a:t>
            </a:r>
            <a:endParaRPr/>
          </a:p>
          <a:p>
            <a:pPr indent="0" lvl="0" marL="0" rtl="0" algn="l">
              <a:spcBef>
                <a:spcPts val="0"/>
              </a:spcBef>
              <a:spcAft>
                <a:spcPts val="0"/>
              </a:spcAft>
              <a:buNone/>
            </a:pPr>
            <a:r>
              <a:rPr lang="en"/>
              <a:t>The yellow was an “admin access” Transport of a communication channel that lets us access anything, so if something broke, we could go in and try to fix it</a:t>
            </a:r>
            <a:endParaRPr/>
          </a:p>
          <a:p>
            <a:pPr indent="0" lvl="0" marL="0" rtl="0" algn="l">
              <a:spcBef>
                <a:spcPts val="0"/>
              </a:spcBef>
              <a:spcAft>
                <a:spcPts val="0"/>
              </a:spcAft>
              <a:buNone/>
            </a:pPr>
            <a:r>
              <a:rPr lang="en"/>
              <a:t>Blue is connection to wider internet “WAN”</a:t>
            </a:r>
            <a:endParaRPr/>
          </a:p>
          <a:p>
            <a:pPr indent="0" lvl="0" marL="0" rtl="0" algn="l">
              <a:spcBef>
                <a:spcPts val="0"/>
              </a:spcBef>
              <a:spcAft>
                <a:spcPts val="0"/>
              </a:spcAft>
              <a:buNone/>
            </a:pPr>
            <a:r>
              <a:rPr lang="en"/>
              <a:t>Down below are student </a:t>
            </a:r>
            <a:r>
              <a:rPr lang="en"/>
              <a:t>stations. You can see these in the virtual environment, but each student has their own communication channel they could log into through an online web service I downloaded into the computers</a:t>
            </a:r>
            <a:endParaRPr/>
          </a:p>
          <a:p>
            <a:pPr indent="0" lvl="0" marL="0" rtl="0" algn="l">
              <a:spcBef>
                <a:spcPts val="0"/>
              </a:spcBef>
              <a:spcAft>
                <a:spcPts val="0"/>
              </a:spcAft>
              <a:buNone/>
            </a:pPr>
            <a:r>
              <a:rPr lang="en"/>
              <a:t>	This was used mainly for module 2, when I Was teaching them to configure segmented networks and firewalls</a:t>
            </a:r>
            <a:endParaRPr/>
          </a:p>
          <a:p>
            <a:pPr indent="0" lvl="0" marL="0" rtl="0" algn="l">
              <a:spcBef>
                <a:spcPts val="0"/>
              </a:spcBef>
              <a:spcAft>
                <a:spcPts val="0"/>
              </a:spcAft>
              <a:buNone/>
            </a:pPr>
            <a:r>
              <a:rPr lang="en"/>
              <a:t>Two routers: One is to connect to the wider university wifi so you can use the internet on it. Then it uses its own subnet to act as a barrier between the wifi and the rest of the network, because we don’t want to have our local network traffic interfere with the internet or university can auto-block us if registers our VLANs</a:t>
            </a:r>
            <a:endParaRPr/>
          </a:p>
          <a:p>
            <a:pPr indent="0" lvl="0" marL="0" rtl="0" algn="l">
              <a:spcBef>
                <a:spcPts val="0"/>
              </a:spcBef>
              <a:spcAft>
                <a:spcPts val="0"/>
              </a:spcAft>
              <a:buNone/>
            </a:pPr>
            <a:r>
              <a:rPr lang="en"/>
              <a:t>Other router is giving IP addresses to everything. This is the admin channel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5929468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f5929468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Mention how the example firewall station is one per station, and we had 4 of these virtually</a:t>
            </a:r>
            <a:endParaRPr/>
          </a:p>
          <a:p>
            <a:pPr indent="0" lvl="0" marL="0" rtl="0" algn="l">
              <a:spcBef>
                <a:spcPts val="0"/>
              </a:spcBef>
              <a:spcAft>
                <a:spcPts val="0"/>
              </a:spcAft>
              <a:buNone/>
            </a:pPr>
            <a:r>
              <a:rPr lang="en"/>
              <a:t>Segmented networks to really improve done on </a:t>
            </a:r>
            <a:r>
              <a:rPr lang="en"/>
              <a:t>training</a:t>
            </a:r>
            <a:r>
              <a:rPr lang="en"/>
              <a:t> grounds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576fc5a5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f576fc5a5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Explain that the 4 servers were the boxes, and let me host memory spread out across them of student devices. I separated the student VMs roughly equally so they had similar performance.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576fc5a59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576fc5a59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Overall data summary and memory usage on left</a:t>
            </a:r>
            <a:endParaRPr/>
          </a:p>
          <a:p>
            <a:pPr indent="0" lvl="0" marL="0" rtl="0" algn="l">
              <a:spcBef>
                <a:spcPts val="0"/>
              </a:spcBef>
              <a:spcAft>
                <a:spcPts val="0"/>
              </a:spcAft>
              <a:buNone/>
            </a:pPr>
            <a:r>
              <a:rPr lang="en"/>
              <a:t>Then explain my tags on the VMs for modules 1 and 2 and the segmented networkin </a:t>
            </a:r>
            <a:r>
              <a:rPr lang="en"/>
              <a:t>goals</a:t>
            </a:r>
            <a:r>
              <a:rPr lang="en"/>
              <a:t> of all on same subnet vs not</a:t>
            </a:r>
            <a:endParaRPr/>
          </a:p>
          <a:p>
            <a:pPr indent="0" lvl="0" marL="0" rtl="0" algn="l">
              <a:spcBef>
                <a:spcPts val="0"/>
              </a:spcBef>
              <a:spcAft>
                <a:spcPts val="0"/>
              </a:spcAft>
              <a:buNone/>
            </a:pPr>
            <a:r>
              <a:rPr lang="en"/>
              <a:t>Explain my firewalls, then their firewalls (for networking group; the firewalls not fully done yet; will change picture before EOS pres)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65ae7a74b_1_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arenR"/>
            </a:pPr>
            <a:r>
              <a:rPr lang="en"/>
              <a:t>I am developing the resources to be disseminated; did some very early beta testing. The solution is meant, as just discussed to be cost effective as a new solution for rural Alaskan’s. This can also be deployed to other groups, however</a:t>
            </a:r>
            <a:endParaRPr/>
          </a:p>
          <a:p>
            <a:pPr indent="-298450" lvl="0" marL="457200" rtl="0" algn="l">
              <a:spcBef>
                <a:spcPts val="0"/>
              </a:spcBef>
              <a:spcAft>
                <a:spcPts val="0"/>
              </a:spcAft>
              <a:buSzPts val="1100"/>
              <a:buAutoNum type="arabicParenR"/>
            </a:pPr>
            <a:r>
              <a:rPr lang="en"/>
              <a:t>Self explanatory; developing the security systems to help them last </a:t>
            </a:r>
            <a:endParaRPr/>
          </a:p>
        </p:txBody>
      </p:sp>
      <p:sp>
        <p:nvSpPr>
          <p:cNvPr id="261" name="Google Shape;261;g3f65ae7a74b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576fc5a5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576fc5a5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is for teaching them to walk before running. Activities for each section, but its a lot of learning</a:t>
            </a:r>
            <a:endParaRPr/>
          </a:p>
          <a:p>
            <a:pPr indent="0" lvl="0" marL="0" rtl="0" algn="l">
              <a:spcBef>
                <a:spcPts val="0"/>
              </a:spcBef>
              <a:spcAft>
                <a:spcPts val="0"/>
              </a:spcAft>
              <a:buNone/>
            </a:pPr>
            <a:r>
              <a:rPr lang="en"/>
              <a:t>I made a bunch of slides for a training module; all sections, activities, challenges, interactions etc are using the interface of the virtual computers, so for example, if i wanted them to see a communication difference on the same vs different subnets, I’d have them send each other a ping on the same subnet, see that it works, then that it doesn’t when on a segmented network. There were many other activities, but that </a:t>
            </a:r>
            <a:r>
              <a:rPr lang="en"/>
              <a:t>functions</a:t>
            </a:r>
            <a:r>
              <a:rPr lang="en"/>
              <a:t> as a decent example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f576fc5a59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f576fc5a59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they are using their own computers to get a visual route of the translation your </a:t>
            </a:r>
            <a:r>
              <a:rPr lang="en"/>
              <a:t>computer</a:t>
            </a:r>
            <a:r>
              <a:rPr lang="en"/>
              <a:t> does when you type in a host name, then it gets a number address back to you that lets you use a website</a:t>
            </a:r>
            <a:br>
              <a:rPr lang="en"/>
            </a:br>
            <a:br>
              <a:rPr lang="en"/>
            </a:br>
            <a:r>
              <a:rPr lang="en"/>
              <a:t>Juztapose traceroute with layer 3 diagram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576fc5a5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f576fc5a5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800"/>
              </a:spcBef>
              <a:spcAft>
                <a:spcPts val="0"/>
              </a:spcAft>
              <a:buNone/>
            </a:pPr>
            <a:r>
              <a:rPr lang="en" sz="2100">
                <a:solidFill>
                  <a:schemeClr val="dk1"/>
                </a:solidFill>
                <a:latin typeface="Calibri"/>
                <a:ea typeface="Calibri"/>
                <a:cs typeface="Calibri"/>
                <a:sym typeface="Calibri"/>
              </a:rPr>
              <a:t>End goal: Segmented network building and firewalls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sz="2100">
                <a:solidFill>
                  <a:schemeClr val="dk1"/>
                </a:solidFill>
                <a:latin typeface="Calibri"/>
                <a:ea typeface="Calibri"/>
                <a:cs typeface="Calibri"/>
                <a:sym typeface="Calibri"/>
              </a:rPr>
              <a:t>	Bringing this capability to other Alaskans</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
                <a:solidFill>
                  <a:schemeClr val="dk1"/>
                </a:solidFill>
              </a:rPr>
              <a:t>This module they configure their own firewall with services we just learned about, and their firewall rules with what traffic to limit etc. to understand how to make strong firewall rules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 made a bunch of slides for a training module; all sections, activities, challenges, interactions etc are using the interface of the virtual computers, so for example, if i wanted them to see a communication difference on the same vs different subnets, I’d have them send each other a ping on the same subnet, see that it works, then that it doesn’t when on a segmented network. There were many other activities, but that functions as a decent example</a:t>
            </a:r>
            <a:endParaRPr>
              <a:solidFill>
                <a:schemeClr val="dk1"/>
              </a:solidFill>
            </a:endParaRPr>
          </a:p>
          <a:p>
            <a:pPr indent="0" lvl="0" marL="0" rtl="0" algn="l">
              <a:spcBef>
                <a:spcPts val="0"/>
              </a:spcBef>
              <a:spcAft>
                <a:spcPts val="0"/>
              </a:spcAft>
              <a:buNone/>
            </a:pPr>
            <a:r>
              <a:rPr lang="en"/>
              <a:t>Mention feedback form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f576fc5a59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f576fc5a59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Made many diagrams for the modules, and had them configure </a:t>
            </a:r>
            <a:r>
              <a:rPr lang="en"/>
              <a:t>their</a:t>
            </a:r>
            <a:r>
              <a:rPr lang="en"/>
              <a:t> own baseline of rules before changing it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f576fc5a59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f576fc5a59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looks like this in the software we used for firewalls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576fc5a59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f576fc5a59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well as challenges for them to change their own rules to accomplish different goals</a:t>
            </a:r>
            <a:endParaRPr/>
          </a:p>
          <a:p>
            <a:pPr indent="0" lvl="0" marL="0" rtl="0" algn="l">
              <a:spcBef>
                <a:spcPts val="0"/>
              </a:spcBef>
              <a:spcAft>
                <a:spcPts val="0"/>
              </a:spcAft>
              <a:buNone/>
            </a:pPr>
            <a:r>
              <a:rPr lang="en"/>
              <a:t>May need to update slide as this is for a config where everyone is on their own firewall</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3ead38239f_0_4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13ead38239f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576fc5a59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f576fc5a59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are equivalent. </a:t>
            </a:r>
            <a:endParaRPr/>
          </a:p>
          <a:p>
            <a:pPr indent="0" lvl="0" marL="0" rtl="0" algn="l">
              <a:spcBef>
                <a:spcPts val="0"/>
              </a:spcBef>
              <a:spcAft>
                <a:spcPts val="0"/>
              </a:spcAft>
              <a:buNone/>
            </a:pPr>
            <a:r>
              <a:rPr lang="en"/>
              <a:t>Four boxes are servers are a software i burned onto a usb then uploaded to the computers. They handled all the virtual computers that students use in the training modules</a:t>
            </a:r>
            <a:endParaRPr/>
          </a:p>
          <a:p>
            <a:pPr indent="0" lvl="0" marL="0" rtl="0" algn="l">
              <a:spcBef>
                <a:spcPts val="0"/>
              </a:spcBef>
              <a:spcAft>
                <a:spcPts val="0"/>
              </a:spcAft>
              <a:buNone/>
            </a:pPr>
            <a:r>
              <a:rPr lang="en"/>
              <a:t>Color coding not perfect with wires</a:t>
            </a:r>
            <a:endParaRPr/>
          </a:p>
          <a:p>
            <a:pPr indent="0" lvl="0" marL="0" rtl="0" algn="l">
              <a:spcBef>
                <a:spcPts val="0"/>
              </a:spcBef>
              <a:spcAft>
                <a:spcPts val="0"/>
              </a:spcAft>
              <a:buNone/>
            </a:pPr>
            <a:r>
              <a:rPr lang="en"/>
              <a:t>The diagram’s red is transporting virtual communication channels for the students to interact on; these are segmented networks, that have firewalls as virtual computers in the software system; the firewalls aren’t in the diagram because they only exist in software. But everything talks along the red mostly.</a:t>
            </a:r>
            <a:endParaRPr/>
          </a:p>
          <a:p>
            <a:pPr indent="0" lvl="0" marL="0" rtl="0" algn="l">
              <a:spcBef>
                <a:spcPts val="0"/>
              </a:spcBef>
              <a:spcAft>
                <a:spcPts val="0"/>
              </a:spcAft>
              <a:buNone/>
            </a:pPr>
            <a:r>
              <a:rPr lang="en"/>
              <a:t>The yellow was an “admin access” Transport of a communication channel that lets us access anything, so if something broke, we could go in and try to fix it</a:t>
            </a:r>
            <a:endParaRPr/>
          </a:p>
          <a:p>
            <a:pPr indent="0" lvl="0" marL="0" rtl="0" algn="l">
              <a:spcBef>
                <a:spcPts val="0"/>
              </a:spcBef>
              <a:spcAft>
                <a:spcPts val="0"/>
              </a:spcAft>
              <a:buNone/>
            </a:pPr>
            <a:r>
              <a:rPr lang="en"/>
              <a:t>Blue is connection to wider internet “WAN”</a:t>
            </a:r>
            <a:endParaRPr/>
          </a:p>
          <a:p>
            <a:pPr indent="0" lvl="0" marL="0" rtl="0" algn="l">
              <a:spcBef>
                <a:spcPts val="0"/>
              </a:spcBef>
              <a:spcAft>
                <a:spcPts val="0"/>
              </a:spcAft>
              <a:buNone/>
            </a:pPr>
            <a:r>
              <a:rPr lang="en"/>
              <a:t>Down below are student stations. You can see these in the virtual environment, but each student has their own communication channel they could log into through an online web service I downloaded into the computers</a:t>
            </a:r>
            <a:endParaRPr/>
          </a:p>
          <a:p>
            <a:pPr indent="0" lvl="0" marL="0" rtl="0" algn="l">
              <a:spcBef>
                <a:spcPts val="0"/>
              </a:spcBef>
              <a:spcAft>
                <a:spcPts val="0"/>
              </a:spcAft>
              <a:buNone/>
            </a:pPr>
            <a:r>
              <a:rPr lang="en"/>
              <a:t>	This was used mainly for module 2, when I Was teaching them to configure segmented networks and firewalls</a:t>
            </a:r>
            <a:endParaRPr/>
          </a:p>
          <a:p>
            <a:pPr indent="0" lvl="0" marL="0" rtl="0" algn="l">
              <a:spcBef>
                <a:spcPts val="0"/>
              </a:spcBef>
              <a:spcAft>
                <a:spcPts val="0"/>
              </a:spcAft>
              <a:buNone/>
            </a:pPr>
            <a:r>
              <a:rPr lang="en"/>
              <a:t>Two routers: One is to connect to the wider university wifi so you can use the internet on it. Then it uses its own subnet to act as a barrier between the wifi and the rest of the network, because we don’t want to have our local network traffic interfere with the internet or university can auto-block us if registers our VLANs</a:t>
            </a:r>
            <a:endParaRPr/>
          </a:p>
          <a:p>
            <a:pPr indent="0" lvl="0" marL="0" rtl="0" algn="l">
              <a:spcBef>
                <a:spcPts val="0"/>
              </a:spcBef>
              <a:spcAft>
                <a:spcPts val="0"/>
              </a:spcAft>
              <a:buNone/>
            </a:pPr>
            <a:r>
              <a:rPr lang="en"/>
              <a:t>Other router is giving IP addresses to everything. This is the admin channel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Learned sometimes what works rn is better than what is perfect/ideal. Also, principle of least access with trying not to tick off uni wifi firewall with my own network, and also working below ideal conditions and succeeding, </a:t>
            </a:r>
            <a:r>
              <a:rPr lang="en"/>
              <a:t>persevering</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576fc5a59_0_25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g3f576fc5a59_0_2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576fc5a59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f576fc5a59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Basically click for each interface to appear. </a:t>
            </a:r>
            <a:endParaRPr/>
          </a:p>
          <a:p>
            <a:pPr indent="0" lvl="0" marL="0" rtl="0" algn="l">
              <a:spcBef>
                <a:spcPts val="0"/>
              </a:spcBef>
              <a:spcAft>
                <a:spcPts val="0"/>
              </a:spcAft>
              <a:buNone/>
            </a:pPr>
            <a:r>
              <a:rPr lang="en">
                <a:solidFill>
                  <a:schemeClr val="dk1"/>
                </a:solidFill>
              </a:rPr>
              <a:t>netgear gave me a lot of practice with tagged/untagged ports, and learning to change my ip to log into a switch both before and after i change the switch’s ip</a:t>
            </a:r>
            <a:endParaRPr>
              <a:solidFill>
                <a:schemeClr val="dk1"/>
              </a:solidFill>
            </a:endParaRPr>
          </a:p>
          <a:p>
            <a:pPr indent="0" lvl="0" marL="0" rtl="0" algn="l">
              <a:spcBef>
                <a:spcPts val="0"/>
              </a:spcBef>
              <a:spcAft>
                <a:spcPts val="0"/>
              </a:spcAft>
              <a:buNone/>
            </a:pPr>
            <a:r>
              <a:rPr lang="en"/>
              <a:t>Mention how they got harder as time went on, and while it was different for each one, overall the same general ideas being the same made it easier with practice. </a:t>
            </a:r>
            <a:br>
              <a:rPr lang="en"/>
            </a:br>
            <a:br>
              <a:rPr lang="en"/>
            </a:br>
            <a:r>
              <a:rPr lang="en"/>
              <a:t>And well you get the point… there was a lot of on the spot learning</a:t>
            </a:r>
            <a:br>
              <a:rPr lang="en"/>
            </a:br>
            <a:r>
              <a:rPr lang="en"/>
              <a:t>Because they were so confusing, I would often lock myself out, probably 2 times per switch configuration, and have to spend a while figuring out what I messed up so that my network stopped working. One time it took ~3 days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genuinely gained </a:t>
            </a:r>
            <a:r>
              <a:rPr lang="en"/>
              <a:t>understanding</a:t>
            </a:r>
            <a:r>
              <a:rPr lang="en"/>
              <a:t> instead of memorizing what each interface did, since they were different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f576fc5a59_0_23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opnsense/switch interfaces, etc. etc. </a:t>
            </a:r>
            <a:endParaRPr/>
          </a:p>
        </p:txBody>
      </p:sp>
      <p:sp>
        <p:nvSpPr>
          <p:cNvPr id="375" name="Google Shape;375;g3f576fc5a59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f592946802_0_2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3f592946802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f592946802_0_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3f592946802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f592946802_0_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g3f592946802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f576fc5a59_0_7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g3f576fc5a59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576fc5a59_0_36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g3f576fc5a59_0_3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f576fc5a59_0_8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f576fc5a59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3ead38239f_0_5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g13ead38239f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3ead38239f_0_6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g13ead38239f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2.jpg"/><Relationship Id="rId4" Type="http://schemas.openxmlformats.org/officeDocument/2006/relationships/image" Target="../media/image1.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2.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4.jpg"/><Relationship Id="rId4" Type="http://schemas.openxmlformats.org/officeDocument/2006/relationships/image" Target="../media/image5.png"/><Relationship Id="rId5"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5.jpg"/><Relationship Id="rId4" Type="http://schemas.openxmlformats.org/officeDocument/2006/relationships/image" Target="../media/image9.png"/><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5.jpg"/><Relationship Id="rId4" Type="http://schemas.openxmlformats.org/officeDocument/2006/relationships/image" Target="../media/image9.png"/><Relationship Id="rId5"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21.png"/><Relationship Id="rId11" Type="http://schemas.openxmlformats.org/officeDocument/2006/relationships/image" Target="../media/image23.png"/><Relationship Id="rId10" Type="http://schemas.openxmlformats.org/officeDocument/2006/relationships/image" Target="../media/image20.png"/><Relationship Id="rId12" Type="http://schemas.openxmlformats.org/officeDocument/2006/relationships/image" Target="../media/image29.png"/><Relationship Id="rId9"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16.png"/><Relationship Id="rId7" Type="http://schemas.openxmlformats.org/officeDocument/2006/relationships/image" Target="../media/image24.png"/><Relationship Id="rId8"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comments" Target="../comments/comment1.xml"/><Relationship Id="rId4" Type="http://schemas.openxmlformats.org/officeDocument/2006/relationships/image" Target="../media/image5.png"/><Relationship Id="rId5" Type="http://schemas.openxmlformats.org/officeDocument/2006/relationships/image" Target="../media/image27.png"/><Relationship Id="rId6"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comments" Target="../comments/comment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comments" Target="../comments/comment3.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hyperlink" Target="mailto:caden_kelly@berkeley.edu" TargetMode="External"/><Relationship Id="rId5" Type="http://schemas.openxmlformats.org/officeDocument/2006/relationships/hyperlink" Target="https://www.linkedin.com/in/caden-kelly-91574937b/"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83D47"/>
        </a:solidFill>
      </p:bgPr>
    </p:bg>
    <p:spTree>
      <p:nvGrpSpPr>
        <p:cNvPr id="129" name="Shape 129"/>
        <p:cNvGrpSpPr/>
        <p:nvPr/>
      </p:nvGrpSpPr>
      <p:grpSpPr>
        <a:xfrm>
          <a:off x="0" y="0"/>
          <a:ext cx="0" cy="0"/>
          <a:chOff x="0" y="0"/>
          <a:chExt cx="0" cy="0"/>
        </a:xfrm>
      </p:grpSpPr>
      <p:pic>
        <p:nvPicPr>
          <p:cNvPr id="130" name="Google Shape;130;p25"/>
          <p:cNvPicPr preferRelativeResize="0"/>
          <p:nvPr/>
        </p:nvPicPr>
        <p:blipFill rotWithShape="1">
          <a:blip r:embed="rId3">
            <a:alphaModFix/>
          </a:blip>
          <a:srcRect b="6202" l="0" r="0" t="6194"/>
          <a:stretch/>
        </p:blipFill>
        <p:spPr>
          <a:xfrm>
            <a:off x="0" y="0"/>
            <a:ext cx="9144003" cy="5143501"/>
          </a:xfrm>
          <a:prstGeom prst="rect">
            <a:avLst/>
          </a:prstGeom>
          <a:noFill/>
          <a:ln>
            <a:noFill/>
          </a:ln>
        </p:spPr>
      </p:pic>
      <p:sp>
        <p:nvSpPr>
          <p:cNvPr id="131" name="Google Shape;131;p25"/>
          <p:cNvSpPr/>
          <p:nvPr/>
        </p:nvSpPr>
        <p:spPr>
          <a:xfrm>
            <a:off x="2420470" y="0"/>
            <a:ext cx="6723530" cy="3859306"/>
          </a:xfrm>
          <a:prstGeom prst="rect">
            <a:avLst/>
          </a:prstGeom>
          <a:solidFill>
            <a:srgbClr val="07376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32" name="Google Shape;132;p25"/>
          <p:cNvSpPr txBox="1"/>
          <p:nvPr>
            <p:ph type="ctrTitle"/>
          </p:nvPr>
        </p:nvSpPr>
        <p:spPr>
          <a:xfrm>
            <a:off x="2759273" y="0"/>
            <a:ext cx="6374549" cy="2536364"/>
          </a:xfrm>
          <a:prstGeom prst="rect">
            <a:avLst/>
          </a:prstGeom>
          <a:noFill/>
          <a:ln>
            <a:noFill/>
          </a:ln>
        </p:spPr>
        <p:txBody>
          <a:bodyPr anchorCtr="0" anchor="b" bIns="137150" lIns="68575" spcFirstLastPara="1" rIns="68575" wrap="square" tIns="34275">
            <a:normAutofit/>
          </a:bodyPr>
          <a:lstStyle/>
          <a:p>
            <a:pPr indent="0" lvl="0" marL="0" rtl="0" algn="l">
              <a:lnSpc>
                <a:spcPct val="90000"/>
              </a:lnSpc>
              <a:spcBef>
                <a:spcPts val="0"/>
              </a:spcBef>
              <a:spcAft>
                <a:spcPts val="0"/>
              </a:spcAft>
              <a:buClr>
                <a:schemeClr val="lt1"/>
              </a:buClr>
              <a:buSzPts val="4500"/>
              <a:buFont typeface="Helvetica Neue"/>
              <a:buNone/>
            </a:pPr>
            <a:r>
              <a:rPr b="1" lang="en">
                <a:solidFill>
                  <a:schemeClr val="lt1"/>
                </a:solidFill>
                <a:latin typeface="Helvetica Neue"/>
                <a:ea typeface="Helvetica Neue"/>
                <a:cs typeface="Helvetica Neue"/>
                <a:sym typeface="Helvetica Neue"/>
              </a:rPr>
              <a:t>Cyber Security: </a:t>
            </a:r>
            <a:r>
              <a:rPr b="1" lang="en">
                <a:solidFill>
                  <a:schemeClr val="lt1"/>
                </a:solidFill>
                <a:latin typeface="Helvetica Neue"/>
                <a:ea typeface="Helvetica Neue"/>
                <a:cs typeface="Helvetica Neue"/>
                <a:sym typeface="Helvetica Neue"/>
              </a:rPr>
              <a:t>Educational</a:t>
            </a:r>
            <a:r>
              <a:rPr b="1" lang="en">
                <a:solidFill>
                  <a:schemeClr val="lt1"/>
                </a:solidFill>
                <a:latin typeface="Helvetica Neue"/>
                <a:ea typeface="Helvetica Neue"/>
                <a:cs typeface="Helvetica Neue"/>
                <a:sym typeface="Helvetica Neue"/>
              </a:rPr>
              <a:t> Impact</a:t>
            </a:r>
            <a:endParaRPr/>
          </a:p>
        </p:txBody>
      </p:sp>
      <p:sp>
        <p:nvSpPr>
          <p:cNvPr id="133" name="Google Shape;133;p25"/>
          <p:cNvSpPr txBox="1"/>
          <p:nvPr>
            <p:ph idx="1" type="subTitle"/>
          </p:nvPr>
        </p:nvSpPr>
        <p:spPr>
          <a:xfrm>
            <a:off x="2759273" y="2536364"/>
            <a:ext cx="6207181" cy="1322941"/>
          </a:xfrm>
          <a:prstGeom prst="rect">
            <a:avLst/>
          </a:prstGeom>
          <a:noFill/>
          <a:ln>
            <a:noFill/>
          </a:ln>
        </p:spPr>
        <p:txBody>
          <a:bodyPr anchorCtr="0" anchor="t" bIns="34275" lIns="68575" spcFirstLastPara="1" rIns="68575" wrap="square" tIns="274325">
            <a:normAutofit/>
          </a:bodyPr>
          <a:lstStyle/>
          <a:p>
            <a:pPr indent="0" lvl="0" marL="0" rtl="0" algn="l">
              <a:lnSpc>
                <a:spcPct val="90000"/>
              </a:lnSpc>
              <a:spcBef>
                <a:spcPts val="0"/>
              </a:spcBef>
              <a:spcAft>
                <a:spcPts val="0"/>
              </a:spcAft>
              <a:buClr>
                <a:schemeClr val="lt1"/>
              </a:buClr>
              <a:buSzPts val="1800"/>
              <a:buNone/>
            </a:pPr>
            <a:r>
              <a:rPr lang="en">
                <a:solidFill>
                  <a:schemeClr val="lt1"/>
                </a:solidFill>
                <a:latin typeface="Helvetica Neue Light"/>
                <a:ea typeface="Helvetica Neue Light"/>
                <a:cs typeface="Helvetica Neue Light"/>
                <a:sym typeface="Helvetica Neue Light"/>
              </a:rPr>
              <a:t>Caden Kelly </a:t>
            </a:r>
            <a:r>
              <a:rPr lang="en">
                <a:solidFill>
                  <a:schemeClr val="lt1"/>
                </a:solidFill>
                <a:latin typeface="Helvetica Neue Light"/>
                <a:ea typeface="Helvetica Neue Light"/>
                <a:cs typeface="Helvetica Neue Light"/>
                <a:sym typeface="Helvetica Neue Light"/>
              </a:rPr>
              <a:t> ● OT Cyber Security Training Modules</a:t>
            </a:r>
            <a:endParaRPr/>
          </a:p>
          <a:p>
            <a:pPr indent="0" lvl="0" marL="0" rtl="0" algn="l">
              <a:lnSpc>
                <a:spcPct val="90000"/>
              </a:lnSpc>
              <a:spcBef>
                <a:spcPts val="1200"/>
              </a:spcBef>
              <a:spcAft>
                <a:spcPts val="0"/>
              </a:spcAft>
              <a:buClr>
                <a:schemeClr val="lt1"/>
              </a:buClr>
              <a:buSzPts val="1400"/>
              <a:buNone/>
            </a:pPr>
            <a:r>
              <a:rPr i="1" lang="en" sz="1400">
                <a:solidFill>
                  <a:schemeClr val="lt1"/>
                </a:solidFill>
                <a:latin typeface="Helvetica Neue Light"/>
                <a:ea typeface="Helvetica Neue Light"/>
                <a:cs typeface="Helvetica Neue Light"/>
                <a:sym typeface="Helvetica Neue Light"/>
              </a:rPr>
              <a:t>ACEP Undergraduate Summer Internship  </a:t>
            </a:r>
            <a:endParaRPr/>
          </a:p>
        </p:txBody>
      </p:sp>
      <p:cxnSp>
        <p:nvCxnSpPr>
          <p:cNvPr id="134" name="Google Shape;134;p25"/>
          <p:cNvCxnSpPr/>
          <p:nvPr/>
        </p:nvCxnSpPr>
        <p:spPr>
          <a:xfrm>
            <a:off x="2759273" y="2536364"/>
            <a:ext cx="5947427" cy="0"/>
          </a:xfrm>
          <a:prstGeom prst="straightConnector1">
            <a:avLst/>
          </a:prstGeom>
          <a:noFill/>
          <a:ln cap="flat" cmpd="sng" w="12700">
            <a:solidFill>
              <a:srgbClr val="FFD966"/>
            </a:solidFill>
            <a:prstDash val="solid"/>
            <a:miter lim="800000"/>
            <a:headEnd len="sm" w="sm" type="none"/>
            <a:tailEnd len="sm" w="sm" type="none"/>
          </a:ln>
        </p:spPr>
      </p:cxnSp>
      <p:pic>
        <p:nvPicPr>
          <p:cNvPr id="135" name="Google Shape;135;p25"/>
          <p:cNvPicPr preferRelativeResize="0"/>
          <p:nvPr/>
        </p:nvPicPr>
        <p:blipFill rotWithShape="1">
          <a:blip r:embed="rId4">
            <a:alphaModFix/>
          </a:blip>
          <a:srcRect b="0" l="0" r="0" t="0"/>
          <a:stretch/>
        </p:blipFill>
        <p:spPr>
          <a:xfrm>
            <a:off x="2290449" y="4331272"/>
            <a:ext cx="790110" cy="708521"/>
          </a:xfrm>
          <a:prstGeom prst="rect">
            <a:avLst/>
          </a:prstGeom>
          <a:noFill/>
          <a:ln>
            <a:noFill/>
          </a:ln>
        </p:spPr>
      </p:pic>
      <p:sp>
        <p:nvSpPr>
          <p:cNvPr id="136" name="Google Shape;136;p25"/>
          <p:cNvSpPr txBox="1"/>
          <p:nvPr/>
        </p:nvSpPr>
        <p:spPr>
          <a:xfrm>
            <a:off x="6955708" y="4752753"/>
            <a:ext cx="2057400" cy="273844"/>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sp>
        <p:nvSpPr>
          <p:cNvPr id="137" name="Google Shape;137;p25"/>
          <p:cNvSpPr txBox="1"/>
          <p:nvPr/>
        </p:nvSpPr>
        <p:spPr>
          <a:xfrm>
            <a:off x="4872800" y="912400"/>
            <a:ext cx="577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Calibri"/>
              <a:ea typeface="Calibri"/>
              <a:cs typeface="Calibri"/>
              <a:sym typeface="Calibri"/>
            </a:endParaRPr>
          </a:p>
        </p:txBody>
      </p:sp>
      <p:pic>
        <p:nvPicPr>
          <p:cNvPr id="138" name="Google Shape;138;p25"/>
          <p:cNvPicPr preferRelativeResize="0"/>
          <p:nvPr/>
        </p:nvPicPr>
        <p:blipFill>
          <a:blip r:embed="rId5">
            <a:alphaModFix/>
          </a:blip>
          <a:stretch>
            <a:fillRect/>
          </a:stretch>
        </p:blipFill>
        <p:spPr>
          <a:xfrm>
            <a:off x="48345" y="4378249"/>
            <a:ext cx="2099632" cy="614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 name="Shape 142"/>
        <p:cNvGrpSpPr/>
        <p:nvPr/>
      </p:nvGrpSpPr>
      <p:grpSpPr>
        <a:xfrm>
          <a:off x="0" y="0"/>
          <a:ext cx="0" cy="0"/>
          <a:chOff x="0" y="0"/>
          <a:chExt cx="0" cy="0"/>
        </a:xfrm>
      </p:grpSpPr>
      <p:sp>
        <p:nvSpPr>
          <p:cNvPr id="143" name="Google Shape;143;p26"/>
          <p:cNvSpPr txBox="1"/>
          <p:nvPr>
            <p:ph type="title"/>
          </p:nvPr>
        </p:nvSpPr>
        <p:spPr>
          <a:xfrm>
            <a:off x="478465" y="382772"/>
            <a:ext cx="4003200" cy="19299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Agenda </a:t>
            </a:r>
            <a:endParaRPr b="1">
              <a:solidFill>
                <a:srgbClr val="3D85C6"/>
              </a:solidFill>
              <a:latin typeface="Helvetica Neue"/>
              <a:ea typeface="Helvetica Neue"/>
              <a:cs typeface="Helvetica Neue"/>
              <a:sym typeface="Helvetica Neue"/>
            </a:endParaRPr>
          </a:p>
          <a:p>
            <a:pPr indent="0" lvl="0" marL="0" rtl="0" algn="l">
              <a:lnSpc>
                <a:spcPct val="90000"/>
              </a:lnSpc>
              <a:spcBef>
                <a:spcPts val="0"/>
              </a:spcBef>
              <a:spcAft>
                <a:spcPts val="0"/>
              </a:spcAft>
              <a:buClr>
                <a:srgbClr val="2D4970"/>
              </a:buClr>
              <a:buSzPts val="3300"/>
              <a:buFont typeface="Helvetica Neue"/>
              <a:buNone/>
            </a:pPr>
            <a:r>
              <a:t/>
            </a:r>
            <a:endParaRPr b="1">
              <a:solidFill>
                <a:srgbClr val="3D85C6"/>
              </a:solidFill>
              <a:latin typeface="Helvetica Neue"/>
              <a:ea typeface="Helvetica Neue"/>
              <a:cs typeface="Helvetica Neue"/>
              <a:sym typeface="Helvetica Neue"/>
            </a:endParaRPr>
          </a:p>
          <a:p>
            <a:pPr indent="0" lvl="0" marL="0" rtl="0" algn="l">
              <a:lnSpc>
                <a:spcPct val="90000"/>
              </a:lnSpc>
              <a:spcBef>
                <a:spcPts val="0"/>
              </a:spcBef>
              <a:spcAft>
                <a:spcPts val="0"/>
              </a:spcAft>
              <a:buClr>
                <a:srgbClr val="2D4970"/>
              </a:buClr>
              <a:buSzPts val="3300"/>
              <a:buFont typeface="Helvetica Neue"/>
              <a:buNone/>
            </a:pPr>
            <a:r>
              <a:rPr b="1" lang="en" sz="1800">
                <a:solidFill>
                  <a:srgbClr val="3D85C6"/>
                </a:solidFill>
                <a:latin typeface="Helvetica Neue"/>
                <a:ea typeface="Helvetica Neue"/>
                <a:cs typeface="Helvetica Neue"/>
                <a:sym typeface="Helvetica Neue"/>
              </a:rPr>
              <a:t>August 2026</a:t>
            </a:r>
            <a:endParaRPr b="1" sz="1800">
              <a:solidFill>
                <a:srgbClr val="3D85C6"/>
              </a:solidFill>
              <a:latin typeface="Helvetica Neue"/>
              <a:ea typeface="Helvetica Neue"/>
              <a:cs typeface="Helvetica Neue"/>
              <a:sym typeface="Helvetica Neue"/>
            </a:endParaRPr>
          </a:p>
        </p:txBody>
      </p:sp>
      <p:sp>
        <p:nvSpPr>
          <p:cNvPr id="144" name="Google Shape;144;p26"/>
          <p:cNvSpPr txBox="1"/>
          <p:nvPr>
            <p:ph idx="1" type="body"/>
          </p:nvPr>
        </p:nvSpPr>
        <p:spPr>
          <a:xfrm>
            <a:off x="3849000" y="0"/>
            <a:ext cx="5295000" cy="2145000"/>
          </a:xfrm>
          <a:prstGeom prst="rect">
            <a:avLst/>
          </a:prstGeom>
          <a:noFill/>
          <a:ln>
            <a:noFill/>
          </a:ln>
        </p:spPr>
        <p:txBody>
          <a:bodyPr anchorCtr="0" anchor="t" bIns="34275" lIns="68575" spcFirstLastPara="1" rIns="68575" wrap="square" tIns="34275">
            <a:normAutofit fontScale="25000" lnSpcReduction="10000"/>
          </a:bodyPr>
          <a:lstStyle/>
          <a:p>
            <a:pPr indent="-332825" lvl="0" marL="381000" rtl="0" algn="l">
              <a:lnSpc>
                <a:spcPct val="90000"/>
              </a:lnSpc>
              <a:spcBef>
                <a:spcPts val="0"/>
              </a:spcBef>
              <a:spcAft>
                <a:spcPts val="0"/>
              </a:spcAft>
              <a:buClr>
                <a:srgbClr val="3D85C6"/>
              </a:buClr>
              <a:buSzPct val="100000"/>
              <a:buFont typeface="Calibri"/>
              <a:buAutoNum type="arabicPeriod"/>
            </a:pPr>
            <a:r>
              <a:rPr b="1" lang="en" sz="5765">
                <a:solidFill>
                  <a:srgbClr val="3D85C6"/>
                </a:solidFill>
                <a:latin typeface="Helvetica Neue"/>
                <a:ea typeface="Helvetica Neue"/>
                <a:cs typeface="Helvetica Neue"/>
                <a:sym typeface="Helvetica Neue"/>
              </a:rPr>
              <a:t>Problem Statement/Purpose</a:t>
            </a:r>
            <a:endParaRPr b="1" sz="5765">
              <a:solidFill>
                <a:srgbClr val="990000"/>
              </a:solidFill>
              <a:latin typeface="Helvetica Neue"/>
              <a:ea typeface="Helvetica Neue"/>
              <a:cs typeface="Helvetica Neue"/>
              <a:sym typeface="Helvetica Neue"/>
            </a:endParaRPr>
          </a:p>
          <a:p>
            <a:pPr indent="-332825" lvl="0" marL="381000" rtl="0" algn="l">
              <a:lnSpc>
                <a:spcPct val="90000"/>
              </a:lnSpc>
              <a:spcBef>
                <a:spcPts val="1200"/>
              </a:spcBef>
              <a:spcAft>
                <a:spcPts val="0"/>
              </a:spcAft>
              <a:buClr>
                <a:srgbClr val="3D85C6"/>
              </a:buClr>
              <a:buSzPct val="100000"/>
              <a:buFont typeface="Calibri"/>
              <a:buAutoNum type="arabicPeriod"/>
            </a:pPr>
            <a:r>
              <a:rPr b="1" lang="en" sz="5765">
                <a:solidFill>
                  <a:srgbClr val="3D85C6"/>
                </a:solidFill>
                <a:latin typeface="Helvetica Neue"/>
                <a:ea typeface="Helvetica Neue"/>
                <a:cs typeface="Helvetica Neue"/>
                <a:sym typeface="Helvetica Neue"/>
              </a:rPr>
              <a:t>Research Project Goals </a:t>
            </a:r>
            <a:endParaRPr b="1" sz="5765">
              <a:solidFill>
                <a:srgbClr val="990000"/>
              </a:solidFill>
            </a:endParaRPr>
          </a:p>
          <a:p>
            <a:pPr indent="-332825" lvl="0" marL="381000" rtl="0" algn="l">
              <a:lnSpc>
                <a:spcPct val="90000"/>
              </a:lnSpc>
              <a:spcBef>
                <a:spcPts val="1200"/>
              </a:spcBef>
              <a:spcAft>
                <a:spcPts val="0"/>
              </a:spcAft>
              <a:buClr>
                <a:srgbClr val="3D85C6"/>
              </a:buClr>
              <a:buSzPct val="100000"/>
              <a:buFont typeface="Calibri"/>
              <a:buAutoNum type="arabicPeriod"/>
            </a:pPr>
            <a:r>
              <a:rPr b="1" lang="en" sz="5765">
                <a:solidFill>
                  <a:srgbClr val="3D85C6"/>
                </a:solidFill>
                <a:latin typeface="Helvetica Neue"/>
                <a:ea typeface="Helvetica Neue"/>
                <a:cs typeface="Helvetica Neue"/>
                <a:sym typeface="Helvetica Neue"/>
              </a:rPr>
              <a:t>The Bigger Picture</a:t>
            </a:r>
            <a:endParaRPr b="1" sz="5765">
              <a:solidFill>
                <a:srgbClr val="990000"/>
              </a:solidFill>
              <a:latin typeface="Helvetica Neue"/>
              <a:ea typeface="Helvetica Neue"/>
              <a:cs typeface="Helvetica Neue"/>
              <a:sym typeface="Helvetica Neue"/>
            </a:endParaRPr>
          </a:p>
          <a:p>
            <a:pPr indent="-321713" lvl="0" marL="381000" rtl="0" algn="l">
              <a:lnSpc>
                <a:spcPct val="90000"/>
              </a:lnSpc>
              <a:spcBef>
                <a:spcPts val="1200"/>
              </a:spcBef>
              <a:spcAft>
                <a:spcPts val="0"/>
              </a:spcAft>
              <a:buClr>
                <a:srgbClr val="3D85C6"/>
              </a:buClr>
              <a:buSzPct val="87859"/>
              <a:buFont typeface="Helvetica Neue"/>
              <a:buAutoNum type="arabicPeriod"/>
            </a:pPr>
            <a:r>
              <a:rPr b="1" lang="en" sz="5765">
                <a:solidFill>
                  <a:srgbClr val="3D85C6"/>
                </a:solidFill>
                <a:latin typeface="Helvetica Neue"/>
                <a:ea typeface="Helvetica Neue"/>
                <a:cs typeface="Helvetica Neue"/>
                <a:sym typeface="Helvetica Neue"/>
              </a:rPr>
              <a:t>My Project </a:t>
            </a:r>
            <a:endParaRPr b="1" sz="5765">
              <a:solidFill>
                <a:srgbClr val="990000"/>
              </a:solidFill>
              <a:latin typeface="Helvetica Neue"/>
              <a:ea typeface="Helvetica Neue"/>
              <a:cs typeface="Helvetica Neue"/>
              <a:sym typeface="Helvetica Neue"/>
            </a:endParaRPr>
          </a:p>
          <a:p>
            <a:pPr indent="-321713" lvl="0" marL="381000" rtl="0" algn="l">
              <a:lnSpc>
                <a:spcPct val="90000"/>
              </a:lnSpc>
              <a:spcBef>
                <a:spcPts val="1200"/>
              </a:spcBef>
              <a:spcAft>
                <a:spcPts val="0"/>
              </a:spcAft>
              <a:buClr>
                <a:srgbClr val="3D85C6"/>
              </a:buClr>
              <a:buSzPct val="87859"/>
              <a:buFont typeface="Helvetica Neue"/>
              <a:buAutoNum type="arabicPeriod"/>
            </a:pPr>
            <a:r>
              <a:rPr b="1" lang="en" sz="5765">
                <a:solidFill>
                  <a:srgbClr val="3D85C6"/>
                </a:solidFill>
                <a:latin typeface="Helvetica Neue"/>
                <a:ea typeface="Helvetica Neue"/>
                <a:cs typeface="Helvetica Neue"/>
                <a:sym typeface="Helvetica Neue"/>
              </a:rPr>
              <a:t>Challenges and Lessons</a:t>
            </a:r>
            <a:r>
              <a:rPr b="1" lang="en" sz="5765">
                <a:solidFill>
                  <a:srgbClr val="3D85C6"/>
                </a:solidFill>
                <a:latin typeface="Helvetica Neue"/>
                <a:ea typeface="Helvetica Neue"/>
                <a:cs typeface="Helvetica Neue"/>
                <a:sym typeface="Helvetica Neue"/>
              </a:rPr>
              <a:t> Learned</a:t>
            </a:r>
            <a:endParaRPr b="1" sz="5765">
              <a:solidFill>
                <a:srgbClr val="3D85C6"/>
              </a:solidFill>
              <a:latin typeface="Helvetica Neue"/>
              <a:ea typeface="Helvetica Neue"/>
              <a:cs typeface="Helvetica Neue"/>
              <a:sym typeface="Helvetica Neue"/>
            </a:endParaRPr>
          </a:p>
          <a:p>
            <a:pPr indent="-332825" lvl="0" marL="381000" rtl="0" algn="l">
              <a:lnSpc>
                <a:spcPct val="90000"/>
              </a:lnSpc>
              <a:spcBef>
                <a:spcPts val="1200"/>
              </a:spcBef>
              <a:spcAft>
                <a:spcPts val="0"/>
              </a:spcAft>
              <a:buClr>
                <a:srgbClr val="3D85C6"/>
              </a:buClr>
              <a:buSzPct val="100000"/>
              <a:buFont typeface="Helvetica Neue"/>
              <a:buAutoNum type="arabicPeriod"/>
            </a:pPr>
            <a:r>
              <a:rPr b="1" lang="en" sz="5765">
                <a:solidFill>
                  <a:srgbClr val="3D85C6"/>
                </a:solidFill>
                <a:latin typeface="Helvetica Neue"/>
                <a:ea typeface="Helvetica Neue"/>
                <a:cs typeface="Helvetica Neue"/>
                <a:sym typeface="Helvetica Neue"/>
              </a:rPr>
              <a:t>Conclusions</a:t>
            </a:r>
            <a:endParaRPr b="1" sz="5765">
              <a:solidFill>
                <a:srgbClr val="990000"/>
              </a:solidFill>
              <a:latin typeface="Helvetica Neue"/>
              <a:ea typeface="Helvetica Neue"/>
              <a:cs typeface="Helvetica Neue"/>
              <a:sym typeface="Helvetica Neue"/>
            </a:endParaRPr>
          </a:p>
          <a:p>
            <a:pPr indent="0" lvl="0" marL="0" rtl="0" algn="l">
              <a:spcBef>
                <a:spcPts val="1200"/>
              </a:spcBef>
              <a:spcAft>
                <a:spcPts val="0"/>
              </a:spcAft>
              <a:buNone/>
            </a:pPr>
            <a:r>
              <a:t/>
            </a:r>
            <a:endParaRPr>
              <a:solidFill>
                <a:srgbClr val="990000"/>
              </a:solidFill>
              <a:latin typeface="Helvetica Neue Light"/>
              <a:ea typeface="Helvetica Neue Light"/>
              <a:cs typeface="Helvetica Neue Light"/>
              <a:sym typeface="Helvetica Neue Light"/>
            </a:endParaRPr>
          </a:p>
        </p:txBody>
      </p:sp>
      <p:pic>
        <p:nvPicPr>
          <p:cNvPr id="145" name="Google Shape;145;p26"/>
          <p:cNvPicPr preferRelativeResize="0"/>
          <p:nvPr/>
        </p:nvPicPr>
        <p:blipFill rotWithShape="1">
          <a:blip r:embed="rId3">
            <a:alphaModFix/>
          </a:blip>
          <a:srcRect b="30851" l="0" r="0" t="30848"/>
          <a:stretch/>
        </p:blipFill>
        <p:spPr>
          <a:xfrm>
            <a:off x="0" y="2376377"/>
            <a:ext cx="9144003" cy="2248788"/>
          </a:xfrm>
          <a:prstGeom prst="rect">
            <a:avLst/>
          </a:prstGeom>
          <a:noFill/>
          <a:ln>
            <a:noFill/>
          </a:ln>
        </p:spPr>
      </p:pic>
      <p:sp>
        <p:nvSpPr>
          <p:cNvPr id="146" name="Google Shape;146;p26"/>
          <p:cNvSpPr txBox="1"/>
          <p:nvPr/>
        </p:nvSpPr>
        <p:spPr>
          <a:xfrm>
            <a:off x="3149137" y="4625126"/>
            <a:ext cx="55749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83D47"/>
                </a:solidFill>
                <a:latin typeface="Helvetica Neue Light"/>
                <a:ea typeface="Helvetica Neue Light"/>
                <a:cs typeface="Helvetica Neue Light"/>
                <a:sym typeface="Helvetica Neue Light"/>
              </a:rPr>
              <a:t>Caden Kelly</a:t>
            </a:r>
            <a:r>
              <a:rPr b="0" i="0" lang="en" sz="1500" u="none" cap="none" strike="noStrike">
                <a:solidFill>
                  <a:srgbClr val="383D47"/>
                </a:solidFill>
                <a:latin typeface="Helvetica Neue Light"/>
                <a:ea typeface="Helvetica Neue Light"/>
                <a:cs typeface="Helvetica Neue Light"/>
                <a:sym typeface="Helvetica Neue Light"/>
              </a:rPr>
              <a:t> ● </a:t>
            </a:r>
            <a:r>
              <a:rPr lang="en" sz="1500">
                <a:solidFill>
                  <a:srgbClr val="383D47"/>
                </a:solidFill>
                <a:latin typeface="Helvetica Neue Light"/>
                <a:ea typeface="Helvetica Neue Light"/>
                <a:cs typeface="Helvetica Neue Light"/>
                <a:sym typeface="Helvetica Neue Light"/>
              </a:rPr>
              <a:t>Alaska Center for Energy and Power</a:t>
            </a:r>
            <a:endParaRPr sz="1100"/>
          </a:p>
        </p:txBody>
      </p:sp>
      <p:cxnSp>
        <p:nvCxnSpPr>
          <p:cNvPr id="147" name="Google Shape;147;p26"/>
          <p:cNvCxnSpPr/>
          <p:nvPr/>
        </p:nvCxnSpPr>
        <p:spPr>
          <a:xfrm>
            <a:off x="0" y="2376377"/>
            <a:ext cx="9144000" cy="0"/>
          </a:xfrm>
          <a:prstGeom prst="straightConnector1">
            <a:avLst/>
          </a:prstGeom>
          <a:noFill/>
          <a:ln cap="flat" cmpd="sng" w="50800">
            <a:solidFill>
              <a:schemeClr val="accent4"/>
            </a:solidFill>
            <a:prstDash val="solid"/>
            <a:miter lim="800000"/>
            <a:headEnd len="sm" w="sm" type="none"/>
            <a:tailEnd len="sm" w="sm" type="none"/>
          </a:ln>
        </p:spPr>
      </p:cxnSp>
      <p:sp>
        <p:nvSpPr>
          <p:cNvPr id="148" name="Google Shape;148;p26"/>
          <p:cNvSpPr txBox="1"/>
          <p:nvPr>
            <p:ph idx="12" type="sldNum"/>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solidFill>
                  <a:srgbClr val="2D4970"/>
                </a:solidFill>
                <a:latin typeface="Helvetica Neue Light"/>
                <a:ea typeface="Helvetica Neue Light"/>
                <a:cs typeface="Helvetica Neue Light"/>
                <a:sym typeface="Helvetica Neue Light"/>
              </a:rPr>
              <a:t>‹#›</a:t>
            </a:fld>
            <a:endParaRPr>
              <a:solidFill>
                <a:srgbClr val="2D4970"/>
              </a:solidFill>
              <a:latin typeface="Helvetica Neue Light"/>
              <a:ea typeface="Helvetica Neue Light"/>
              <a:cs typeface="Helvetica Neue Light"/>
              <a:sym typeface="Helvetica Neue Light"/>
            </a:endParaRPr>
          </a:p>
        </p:txBody>
      </p:sp>
      <p:pic>
        <p:nvPicPr>
          <p:cNvPr id="149" name="Google Shape;149;p26"/>
          <p:cNvPicPr preferRelativeResize="0"/>
          <p:nvPr/>
        </p:nvPicPr>
        <p:blipFill>
          <a:blip r:embed="rId4">
            <a:alphaModFix/>
          </a:blip>
          <a:stretch>
            <a:fillRect/>
          </a:stretch>
        </p:blipFill>
        <p:spPr>
          <a:xfrm>
            <a:off x="0" y="4625125"/>
            <a:ext cx="1771047" cy="518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nvSpPr>
        <p:spPr>
          <a:xfrm>
            <a:off x="1869358" y="4625163"/>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
        <p:nvSpPr>
          <p:cNvPr id="155" name="Google Shape;155;p27"/>
          <p:cNvSpPr txBox="1"/>
          <p:nvPr>
            <p:ph type="title"/>
          </p:nvPr>
        </p:nvSpPr>
        <p:spPr>
          <a:xfrm>
            <a:off x="1985625" y="293894"/>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Problem Statement</a:t>
            </a:r>
            <a:endParaRPr>
              <a:solidFill>
                <a:srgbClr val="3D85C6"/>
              </a:solidFill>
            </a:endParaRPr>
          </a:p>
        </p:txBody>
      </p:sp>
      <p:sp>
        <p:nvSpPr>
          <p:cNvPr id="156" name="Google Shape;156;p27"/>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157" name="Google Shape;157;p27"/>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158" name="Google Shape;158;p27"/>
          <p:cNvSpPr txBox="1"/>
          <p:nvPr/>
        </p:nvSpPr>
        <p:spPr>
          <a:xfrm>
            <a:off x="3150975" y="1157713"/>
            <a:ext cx="5556000" cy="39096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Rural Alaskan microgrids often lack modern cyber infrastructure and security features</a:t>
            </a:r>
            <a:endParaRPr sz="2200">
              <a:solidFill>
                <a:schemeClr val="dk1"/>
              </a:solidFill>
              <a:latin typeface="Calibri"/>
              <a:ea typeface="Calibri"/>
              <a:cs typeface="Calibri"/>
              <a:sym typeface="Calibri"/>
            </a:endParaRPr>
          </a:p>
          <a:p>
            <a:pPr indent="-368300" lvl="1" marL="914400" rtl="0" algn="l">
              <a:spcBef>
                <a:spcPts val="0"/>
              </a:spcBef>
              <a:spcAft>
                <a:spcPts val="0"/>
              </a:spcAft>
              <a:buClr>
                <a:schemeClr val="dk1"/>
              </a:buClr>
              <a:buSzPts val="2200"/>
              <a:buFont typeface="Calibri"/>
              <a:buChar char="○"/>
            </a:pPr>
            <a:r>
              <a:rPr b="1" lang="en" sz="2200">
                <a:solidFill>
                  <a:schemeClr val="dk1"/>
                </a:solidFill>
                <a:latin typeface="Calibri"/>
                <a:ea typeface="Calibri"/>
                <a:cs typeface="Calibri"/>
                <a:sym typeface="Calibri"/>
              </a:rPr>
              <a:t>Security:</a:t>
            </a:r>
            <a:endParaRPr b="1" sz="2200">
              <a:solidFill>
                <a:schemeClr val="dk1"/>
              </a:solidFill>
              <a:latin typeface="Calibri"/>
              <a:ea typeface="Calibri"/>
              <a:cs typeface="Calibri"/>
              <a:sym typeface="Calibri"/>
            </a:endParaRPr>
          </a:p>
          <a:p>
            <a:pPr indent="-368300" lvl="2" marL="1371600" rtl="0" algn="l">
              <a:spcBef>
                <a:spcPts val="0"/>
              </a:spcBef>
              <a:spcAft>
                <a:spcPts val="0"/>
              </a:spcAft>
              <a:buClr>
                <a:schemeClr val="dk1"/>
              </a:buClr>
              <a:buSzPts val="2200"/>
              <a:buFont typeface="Calibri"/>
              <a:buChar char="■"/>
            </a:pPr>
            <a:r>
              <a:rPr b="1" lang="en" sz="2200">
                <a:solidFill>
                  <a:schemeClr val="dk1"/>
                </a:solidFill>
                <a:latin typeface="Calibri"/>
                <a:ea typeface="Calibri"/>
                <a:cs typeface="Calibri"/>
                <a:sym typeface="Calibri"/>
              </a:rPr>
              <a:t>Aging firewalls/single subnets</a:t>
            </a:r>
            <a:endParaRPr b="1" sz="2200">
              <a:solidFill>
                <a:schemeClr val="dk1"/>
              </a:solidFill>
              <a:latin typeface="Calibri"/>
              <a:ea typeface="Calibri"/>
              <a:cs typeface="Calibri"/>
              <a:sym typeface="Calibri"/>
            </a:endParaRPr>
          </a:p>
          <a:p>
            <a:pPr indent="-368300" lvl="1" marL="9144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Resource constraints</a:t>
            </a:r>
            <a:endParaRPr sz="2200">
              <a:solidFill>
                <a:schemeClr val="dk1"/>
              </a:solidFill>
              <a:latin typeface="Calibri"/>
              <a:ea typeface="Calibri"/>
              <a:cs typeface="Calibri"/>
              <a:sym typeface="Calibri"/>
            </a:endParaRPr>
          </a:p>
          <a:p>
            <a:pPr indent="-368300" lvl="2" marL="13716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Limited staff</a:t>
            </a:r>
            <a:endParaRPr sz="2200">
              <a:solidFill>
                <a:schemeClr val="dk1"/>
              </a:solidFill>
              <a:latin typeface="Calibri"/>
              <a:ea typeface="Calibri"/>
              <a:cs typeface="Calibri"/>
              <a:sym typeface="Calibri"/>
            </a:endParaRPr>
          </a:p>
          <a:p>
            <a:pPr indent="-368300" lvl="2" marL="13716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Access to training resources</a:t>
            </a:r>
            <a:endParaRPr sz="2200">
              <a:solidFill>
                <a:schemeClr val="dk1"/>
              </a:solidFill>
              <a:latin typeface="Calibri"/>
              <a:ea typeface="Calibri"/>
              <a:cs typeface="Calibri"/>
              <a:sym typeface="Calibri"/>
            </a:endParaRPr>
          </a:p>
          <a:p>
            <a:pPr indent="-368300" lvl="2" marL="13716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Cost effective solutions</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sz="2200">
              <a:latin typeface="Calibri"/>
              <a:ea typeface="Calibri"/>
              <a:cs typeface="Calibri"/>
              <a:sym typeface="Calibri"/>
            </a:endParaRPr>
          </a:p>
        </p:txBody>
      </p:sp>
      <p:sp>
        <p:nvSpPr>
          <p:cNvPr id="159" name="Google Shape;159;p27"/>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160" name="Google Shape;160;p27"/>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161" name="Google Shape;161;p27"/>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8" title="Problem Image Segmented Networks.png"/>
          <p:cNvPicPr preferRelativeResize="0"/>
          <p:nvPr/>
        </p:nvPicPr>
        <p:blipFill>
          <a:blip r:embed="rId3">
            <a:alphaModFix/>
          </a:blip>
          <a:stretch>
            <a:fillRect/>
          </a:stretch>
        </p:blipFill>
        <p:spPr>
          <a:xfrm>
            <a:off x="7550" y="1"/>
            <a:ext cx="9144000" cy="3781426"/>
          </a:xfrm>
          <a:prstGeom prst="rect">
            <a:avLst/>
          </a:prstGeom>
          <a:noFill/>
          <a:ln>
            <a:noFill/>
          </a:ln>
        </p:spPr>
      </p:pic>
      <p:sp>
        <p:nvSpPr>
          <p:cNvPr id="167" name="Google Shape;167;p28"/>
          <p:cNvSpPr/>
          <p:nvPr/>
        </p:nvSpPr>
        <p:spPr>
          <a:xfrm rot="5400000">
            <a:off x="4035500" y="19950"/>
            <a:ext cx="1088100" cy="91593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168" name="Google Shape;168;p28"/>
          <p:cNvPicPr preferRelativeResize="0"/>
          <p:nvPr/>
        </p:nvPicPr>
        <p:blipFill>
          <a:blip r:embed="rId4">
            <a:alphaModFix/>
          </a:blip>
          <a:stretch>
            <a:fillRect/>
          </a:stretch>
        </p:blipFill>
        <p:spPr>
          <a:xfrm>
            <a:off x="200525" y="4417322"/>
            <a:ext cx="2220650" cy="650000"/>
          </a:xfrm>
          <a:prstGeom prst="rect">
            <a:avLst/>
          </a:prstGeom>
          <a:noFill/>
          <a:ln>
            <a:noFill/>
          </a:ln>
        </p:spPr>
      </p:pic>
      <p:sp>
        <p:nvSpPr>
          <p:cNvPr id="169" name="Google Shape;169;p28"/>
          <p:cNvSpPr txBox="1"/>
          <p:nvPr/>
        </p:nvSpPr>
        <p:spPr>
          <a:xfrm>
            <a:off x="1869358" y="4625163"/>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chemeClr val="lt1"/>
                </a:solidFill>
                <a:latin typeface="Helvetica Neue Light"/>
                <a:ea typeface="Helvetica Neue Light"/>
                <a:cs typeface="Helvetica Neue Light"/>
                <a:sym typeface="Helvetica Neue Light"/>
              </a:rPr>
              <a:t>Caden Kelly</a:t>
            </a:r>
            <a:r>
              <a:rPr b="0" i="0" lang="en" sz="1500" u="none" cap="none" strike="noStrike">
                <a:solidFill>
                  <a:schemeClr val="lt1"/>
                </a:solidFill>
                <a:latin typeface="Helvetica Neue Light"/>
                <a:ea typeface="Helvetica Neue Light"/>
                <a:cs typeface="Helvetica Neue Light"/>
                <a:sym typeface="Helvetica Neue Light"/>
              </a:rPr>
              <a:t> ● </a:t>
            </a:r>
            <a:r>
              <a:rPr lang="en" sz="1500">
                <a:solidFill>
                  <a:schemeClr val="lt1"/>
                </a:solidFill>
                <a:latin typeface="Helvetica Neue Light"/>
                <a:ea typeface="Helvetica Neue Light"/>
                <a:cs typeface="Helvetica Neue Light"/>
                <a:sym typeface="Helvetica Neue Light"/>
              </a:rPr>
              <a:t>Alaska Center for Energy and Power</a:t>
            </a:r>
            <a:endParaRPr sz="11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nvSpPr>
        <p:spPr>
          <a:xfrm>
            <a:off x="1869358" y="4625163"/>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
        <p:nvSpPr>
          <p:cNvPr id="175" name="Google Shape;175;p29"/>
          <p:cNvSpPr txBox="1"/>
          <p:nvPr>
            <p:ph type="title"/>
          </p:nvPr>
        </p:nvSpPr>
        <p:spPr>
          <a:xfrm>
            <a:off x="1985625" y="293894"/>
            <a:ext cx="78867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Problem Statement</a:t>
            </a:r>
            <a:endParaRPr>
              <a:solidFill>
                <a:srgbClr val="3D85C6"/>
              </a:solidFill>
            </a:endParaRPr>
          </a:p>
        </p:txBody>
      </p:sp>
      <p:sp>
        <p:nvSpPr>
          <p:cNvPr id="176" name="Google Shape;176;p29"/>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177" name="Google Shape;177;p29"/>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178" name="Google Shape;178;p29"/>
          <p:cNvSpPr txBox="1"/>
          <p:nvPr/>
        </p:nvSpPr>
        <p:spPr>
          <a:xfrm>
            <a:off x="3150975" y="1157713"/>
            <a:ext cx="5556000" cy="39096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Rural Alaskan microgrids often lack modern cyber infrastructure that lacks modern cyber security features</a:t>
            </a:r>
            <a:endParaRPr sz="2200">
              <a:solidFill>
                <a:schemeClr val="dk1"/>
              </a:solidFill>
              <a:latin typeface="Calibri"/>
              <a:ea typeface="Calibri"/>
              <a:cs typeface="Calibri"/>
              <a:sym typeface="Calibri"/>
            </a:endParaRPr>
          </a:p>
          <a:p>
            <a:pPr indent="-368300" lvl="1" marL="9144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Security:</a:t>
            </a:r>
            <a:endParaRPr sz="2200">
              <a:solidFill>
                <a:schemeClr val="dk1"/>
              </a:solidFill>
              <a:latin typeface="Calibri"/>
              <a:ea typeface="Calibri"/>
              <a:cs typeface="Calibri"/>
              <a:sym typeface="Calibri"/>
            </a:endParaRPr>
          </a:p>
          <a:p>
            <a:pPr indent="-368300" lvl="2" marL="13716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Aging firewalls/single subnets</a:t>
            </a:r>
            <a:endParaRPr sz="2200">
              <a:solidFill>
                <a:schemeClr val="dk1"/>
              </a:solidFill>
              <a:latin typeface="Calibri"/>
              <a:ea typeface="Calibri"/>
              <a:cs typeface="Calibri"/>
              <a:sym typeface="Calibri"/>
            </a:endParaRPr>
          </a:p>
          <a:p>
            <a:pPr indent="-368300" lvl="1" marL="914400" rtl="0" algn="l">
              <a:spcBef>
                <a:spcPts val="0"/>
              </a:spcBef>
              <a:spcAft>
                <a:spcPts val="0"/>
              </a:spcAft>
              <a:buClr>
                <a:schemeClr val="dk1"/>
              </a:buClr>
              <a:buSzPts val="2200"/>
              <a:buFont typeface="Calibri"/>
              <a:buChar char="○"/>
            </a:pPr>
            <a:r>
              <a:rPr b="1" lang="en" sz="2200">
                <a:solidFill>
                  <a:schemeClr val="dk1"/>
                </a:solidFill>
                <a:latin typeface="Calibri"/>
                <a:ea typeface="Calibri"/>
                <a:cs typeface="Calibri"/>
                <a:sym typeface="Calibri"/>
              </a:rPr>
              <a:t>Resource constraints</a:t>
            </a:r>
            <a:endParaRPr b="1" sz="2200">
              <a:solidFill>
                <a:schemeClr val="dk1"/>
              </a:solidFill>
              <a:latin typeface="Calibri"/>
              <a:ea typeface="Calibri"/>
              <a:cs typeface="Calibri"/>
              <a:sym typeface="Calibri"/>
            </a:endParaRPr>
          </a:p>
          <a:p>
            <a:pPr indent="-368300" lvl="2" marL="13716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Limited staff</a:t>
            </a:r>
            <a:endParaRPr sz="2200">
              <a:solidFill>
                <a:schemeClr val="dk1"/>
              </a:solidFill>
              <a:latin typeface="Calibri"/>
              <a:ea typeface="Calibri"/>
              <a:cs typeface="Calibri"/>
              <a:sym typeface="Calibri"/>
            </a:endParaRPr>
          </a:p>
          <a:p>
            <a:pPr indent="-368300" lvl="2" marL="13716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Access to training resources</a:t>
            </a:r>
            <a:endParaRPr sz="2200">
              <a:solidFill>
                <a:schemeClr val="dk1"/>
              </a:solidFill>
              <a:latin typeface="Calibri"/>
              <a:ea typeface="Calibri"/>
              <a:cs typeface="Calibri"/>
              <a:sym typeface="Calibri"/>
            </a:endParaRPr>
          </a:p>
          <a:p>
            <a:pPr indent="-368300" lvl="2" marL="1371600" rtl="0" algn="l">
              <a:spcBef>
                <a:spcPts val="0"/>
              </a:spcBef>
              <a:spcAft>
                <a:spcPts val="0"/>
              </a:spcAft>
              <a:buClr>
                <a:schemeClr val="dk1"/>
              </a:buClr>
              <a:buSzPts val="2200"/>
              <a:buFont typeface="Calibri"/>
              <a:buChar char="■"/>
            </a:pPr>
            <a:r>
              <a:rPr lang="en" sz="2200">
                <a:solidFill>
                  <a:schemeClr val="dk1"/>
                </a:solidFill>
                <a:latin typeface="Calibri"/>
                <a:ea typeface="Calibri"/>
                <a:cs typeface="Calibri"/>
                <a:sym typeface="Calibri"/>
              </a:rPr>
              <a:t>Cost effective solutions</a:t>
            </a:r>
            <a:endParaRPr sz="2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sz="2200">
              <a:latin typeface="Calibri"/>
              <a:ea typeface="Calibri"/>
              <a:cs typeface="Calibri"/>
              <a:sym typeface="Calibri"/>
            </a:endParaRPr>
          </a:p>
        </p:txBody>
      </p:sp>
      <p:sp>
        <p:nvSpPr>
          <p:cNvPr id="179" name="Google Shape;179;p29"/>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180" name="Google Shape;180;p29"/>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181" name="Google Shape;181;p29"/>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0"/>
          <p:cNvSpPr txBox="1"/>
          <p:nvPr/>
        </p:nvSpPr>
        <p:spPr>
          <a:xfrm>
            <a:off x="2597125" y="948625"/>
            <a:ext cx="6302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t>OT Cyber Security Training Modules</a:t>
            </a:r>
            <a:endParaRPr b="1" sz="2400"/>
          </a:p>
        </p:txBody>
      </p:sp>
      <p:sp>
        <p:nvSpPr>
          <p:cNvPr id="187" name="Google Shape;187;p30"/>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188" name="Google Shape;188;p30"/>
          <p:cNvPicPr preferRelativeResize="0"/>
          <p:nvPr/>
        </p:nvPicPr>
        <p:blipFill>
          <a:blip r:embed="rId3">
            <a:alphaModFix/>
          </a:blip>
          <a:stretch>
            <a:fillRect/>
          </a:stretch>
        </p:blipFill>
        <p:spPr>
          <a:xfrm>
            <a:off x="200525" y="4417322"/>
            <a:ext cx="2220650" cy="650000"/>
          </a:xfrm>
          <a:prstGeom prst="rect">
            <a:avLst/>
          </a:prstGeom>
          <a:noFill/>
          <a:ln>
            <a:noFill/>
          </a:ln>
        </p:spPr>
      </p:pic>
      <p:sp>
        <p:nvSpPr>
          <p:cNvPr id="189" name="Google Shape;189;p30"/>
          <p:cNvSpPr txBox="1"/>
          <p:nvPr/>
        </p:nvSpPr>
        <p:spPr>
          <a:xfrm>
            <a:off x="1869358" y="4625163"/>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
        <p:nvSpPr>
          <p:cNvPr id="190" name="Google Shape;190;p30"/>
          <p:cNvSpPr txBox="1"/>
          <p:nvPr>
            <p:ph type="title"/>
          </p:nvPr>
        </p:nvSpPr>
        <p:spPr>
          <a:xfrm>
            <a:off x="3470275" y="0"/>
            <a:ext cx="4556100" cy="9942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Research P</a:t>
            </a:r>
            <a:r>
              <a:rPr b="1" lang="en">
                <a:solidFill>
                  <a:srgbClr val="3D85C6"/>
                </a:solidFill>
                <a:latin typeface="Helvetica Neue"/>
                <a:ea typeface="Helvetica Neue"/>
                <a:cs typeface="Helvetica Neue"/>
                <a:sym typeface="Helvetica Neue"/>
              </a:rPr>
              <a:t>roject Goals</a:t>
            </a:r>
            <a:endParaRPr>
              <a:solidFill>
                <a:srgbClr val="3D85C6"/>
              </a:solidFill>
            </a:endParaRPr>
          </a:p>
        </p:txBody>
      </p:sp>
      <p:sp>
        <p:nvSpPr>
          <p:cNvPr id="191" name="Google Shape;191;p30"/>
          <p:cNvSpPr txBox="1"/>
          <p:nvPr/>
        </p:nvSpPr>
        <p:spPr>
          <a:xfrm>
            <a:off x="3530725" y="1502725"/>
            <a:ext cx="4435200" cy="18009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Demonstrate a cost-effective segmented network</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Low-cost training for beginners</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Portability </a:t>
            </a:r>
            <a:r>
              <a:rPr lang="en" sz="2100">
                <a:solidFill>
                  <a:schemeClr val="dk1"/>
                </a:solidFill>
                <a:latin typeface="Calibri"/>
                <a:ea typeface="Calibri"/>
                <a:cs typeface="Calibri"/>
                <a:sym typeface="Calibri"/>
              </a:rPr>
              <a:t>compounds</a:t>
            </a:r>
            <a:r>
              <a:rPr lang="en" sz="2100">
                <a:solidFill>
                  <a:schemeClr val="dk1"/>
                </a:solidFill>
                <a:latin typeface="Calibri"/>
                <a:ea typeface="Calibri"/>
                <a:cs typeface="Calibri"/>
                <a:sym typeface="Calibri"/>
              </a:rPr>
              <a:t> effects</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en" sz="2100">
                <a:solidFill>
                  <a:schemeClr val="dk1"/>
                </a:solidFill>
                <a:latin typeface="Calibri"/>
                <a:ea typeface="Calibri"/>
                <a:cs typeface="Calibri"/>
                <a:sym typeface="Calibri"/>
              </a:rPr>
              <a:t>Modular - future potential</a:t>
            </a:r>
            <a:endParaRPr sz="2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2553925" y="15352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The Bigger Picture</a:t>
            </a:r>
            <a:r>
              <a:rPr b="1" lang="en">
                <a:solidFill>
                  <a:srgbClr val="3D85C6"/>
                </a:solidFill>
                <a:latin typeface="Helvetica Neue"/>
                <a:ea typeface="Helvetica Neue"/>
                <a:cs typeface="Helvetica Neue"/>
                <a:sym typeface="Helvetica Neue"/>
              </a:rPr>
              <a:t> </a:t>
            </a:r>
            <a:endParaRPr>
              <a:solidFill>
                <a:srgbClr val="3D85C6"/>
              </a:solidFill>
            </a:endParaRPr>
          </a:p>
        </p:txBody>
      </p:sp>
      <p:sp>
        <p:nvSpPr>
          <p:cNvPr id="197" name="Google Shape;197;p31"/>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198" name="Google Shape;198;p31"/>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199" name="Google Shape;199;p31"/>
          <p:cNvSpPr txBox="1"/>
          <p:nvPr/>
        </p:nvSpPr>
        <p:spPr>
          <a:xfrm>
            <a:off x="2957025" y="1018063"/>
            <a:ext cx="5556000" cy="2267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u="sng">
                <a:solidFill>
                  <a:schemeClr val="dk1"/>
                </a:solidFill>
                <a:latin typeface="Calibri"/>
                <a:ea typeface="Calibri"/>
                <a:cs typeface="Calibri"/>
                <a:sym typeface="Calibri"/>
              </a:rPr>
              <a:t>ACEP Goals:</a:t>
            </a:r>
            <a:endParaRPr sz="2400" u="sng">
              <a:solidFill>
                <a:schemeClr val="dk1"/>
              </a:solidFill>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b="1" lang="en" sz="2400">
                <a:solidFill>
                  <a:schemeClr val="dk1"/>
                </a:solidFill>
                <a:highlight>
                  <a:srgbClr val="FFFFFF"/>
                </a:highlight>
                <a:latin typeface="Calibri"/>
                <a:ea typeface="Calibri"/>
                <a:cs typeface="Calibri"/>
                <a:sym typeface="Calibri"/>
              </a:rPr>
              <a:t>Mission</a:t>
            </a:r>
            <a:endParaRPr b="1" sz="2400">
              <a:solidFill>
                <a:schemeClr val="dk1"/>
              </a:solidFill>
              <a:highlight>
                <a:srgbClr val="FFFFFF"/>
              </a:highlight>
              <a:latin typeface="Calibri"/>
              <a:ea typeface="Calibri"/>
              <a:cs typeface="Calibri"/>
              <a:sym typeface="Calibri"/>
            </a:endParaRPr>
          </a:p>
          <a:p>
            <a:pPr indent="0" lvl="0" marL="0" rtl="0" algn="l">
              <a:lnSpc>
                <a:spcPct val="115000"/>
              </a:lnSpc>
              <a:spcBef>
                <a:spcPts val="400"/>
              </a:spcBef>
              <a:spcAft>
                <a:spcPts val="1200"/>
              </a:spcAft>
              <a:buNone/>
            </a:pPr>
            <a:r>
              <a:rPr lang="en" sz="2400">
                <a:solidFill>
                  <a:schemeClr val="dk1"/>
                </a:solidFill>
                <a:highlight>
                  <a:srgbClr val="FFFFFF"/>
                </a:highlight>
                <a:latin typeface="Calibri"/>
                <a:ea typeface="Calibri"/>
                <a:cs typeface="Calibri"/>
                <a:sym typeface="Calibri"/>
              </a:rPr>
              <a:t>“To develop and disseminate effective, economic and innovative energy solutions for Alaska and beyond.”</a:t>
            </a:r>
            <a:endParaRPr sz="2400">
              <a:solidFill>
                <a:schemeClr val="dk1"/>
              </a:solidFill>
              <a:latin typeface="Calibri"/>
              <a:ea typeface="Calibri"/>
              <a:cs typeface="Calibri"/>
              <a:sym typeface="Calibri"/>
            </a:endParaRPr>
          </a:p>
        </p:txBody>
      </p:sp>
      <p:sp>
        <p:nvSpPr>
          <p:cNvPr id="200" name="Google Shape;200;p31"/>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201" name="Google Shape;201;p31"/>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202" name="Google Shape;202;p31"/>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203" name="Google Shape;203;p31"/>
          <p:cNvSpPr txBox="1"/>
          <p:nvPr/>
        </p:nvSpPr>
        <p:spPr>
          <a:xfrm>
            <a:off x="1869358" y="4625163"/>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
        <p:nvSpPr>
          <p:cNvPr id="204" name="Google Shape;204;p31"/>
          <p:cNvSpPr txBox="1"/>
          <p:nvPr/>
        </p:nvSpPr>
        <p:spPr>
          <a:xfrm>
            <a:off x="2957025" y="3157725"/>
            <a:ext cx="5206800" cy="20061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Clr>
                <a:schemeClr val="dk1"/>
              </a:buClr>
              <a:buSzPts val="1100"/>
              <a:buFont typeface="Arial"/>
              <a:buNone/>
            </a:pPr>
            <a:r>
              <a:rPr b="1" lang="en" sz="2400">
                <a:solidFill>
                  <a:schemeClr val="dk1"/>
                </a:solidFill>
                <a:highlight>
                  <a:srgbClr val="FFFFFF"/>
                </a:highlight>
                <a:latin typeface="Calibri"/>
                <a:ea typeface="Calibri"/>
                <a:cs typeface="Calibri"/>
                <a:sym typeface="Calibri"/>
              </a:rPr>
              <a:t>Vision</a:t>
            </a:r>
            <a:endParaRPr b="1" sz="2400">
              <a:solidFill>
                <a:schemeClr val="dk1"/>
              </a:solidFill>
              <a:highlight>
                <a:srgbClr val="FFFFFF"/>
              </a:highlight>
              <a:latin typeface="Calibri"/>
              <a:ea typeface="Calibri"/>
              <a:cs typeface="Calibri"/>
              <a:sym typeface="Calibri"/>
            </a:endParaRPr>
          </a:p>
          <a:p>
            <a:pPr indent="0" lvl="0" marL="0" rtl="0" algn="l">
              <a:lnSpc>
                <a:spcPct val="115000"/>
              </a:lnSpc>
              <a:spcBef>
                <a:spcPts val="400"/>
              </a:spcBef>
              <a:spcAft>
                <a:spcPts val="0"/>
              </a:spcAft>
              <a:buClr>
                <a:schemeClr val="dk1"/>
              </a:buClr>
              <a:buSzPts val="1100"/>
              <a:buFont typeface="Arial"/>
              <a:buNone/>
            </a:pPr>
            <a:r>
              <a:rPr lang="en" sz="2400">
                <a:solidFill>
                  <a:schemeClr val="dk1"/>
                </a:solidFill>
                <a:highlight>
                  <a:srgbClr val="FFFFFF"/>
                </a:highlight>
                <a:latin typeface="Calibri"/>
                <a:ea typeface="Calibri"/>
                <a:cs typeface="Calibri"/>
                <a:sym typeface="Calibri"/>
              </a:rPr>
              <a:t>“Alaska leading the way in innovative, secure and resilient energy systems.”</a:t>
            </a:r>
            <a:endParaRPr sz="2400">
              <a:solidFill>
                <a:schemeClr val="dk1"/>
              </a:solidFill>
              <a:latin typeface="Calibri"/>
              <a:ea typeface="Calibri"/>
              <a:cs typeface="Calibri"/>
              <a:sym typeface="Calibri"/>
            </a:endParaRPr>
          </a:p>
          <a:p>
            <a:pPr indent="0" lvl="0" marL="0" rtl="0" algn="l">
              <a:spcBef>
                <a:spcPts val="120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2"/>
          <p:cNvSpPr txBox="1"/>
          <p:nvPr>
            <p:ph type="title"/>
          </p:nvPr>
        </p:nvSpPr>
        <p:spPr>
          <a:xfrm>
            <a:off x="2553925" y="-3007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My Project</a:t>
            </a:r>
            <a:endParaRPr>
              <a:solidFill>
                <a:srgbClr val="3D85C6"/>
              </a:solidFill>
            </a:endParaRPr>
          </a:p>
        </p:txBody>
      </p:sp>
      <p:sp>
        <p:nvSpPr>
          <p:cNvPr id="210" name="Google Shape;210;p32"/>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211" name="Google Shape;211;p32"/>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212" name="Google Shape;212;p32"/>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213" name="Google Shape;213;p32"/>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214" name="Google Shape;214;p32"/>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215" name="Google Shape;215;p32"/>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
        <p:nvSpPr>
          <p:cNvPr id="216" name="Google Shape;216;p32"/>
          <p:cNvSpPr txBox="1"/>
          <p:nvPr/>
        </p:nvSpPr>
        <p:spPr>
          <a:xfrm>
            <a:off x="3742125" y="947075"/>
            <a:ext cx="4350300" cy="18009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Clr>
                <a:schemeClr val="dk1"/>
              </a:buClr>
              <a:buSzPts val="2100"/>
              <a:buFont typeface="Calibri"/>
              <a:buAutoNum type="arabicParenR"/>
            </a:pPr>
            <a:r>
              <a:rPr lang="en" sz="2100">
                <a:solidFill>
                  <a:schemeClr val="dk1"/>
                </a:solidFill>
                <a:latin typeface="Calibri"/>
                <a:ea typeface="Calibri"/>
                <a:cs typeface="Calibri"/>
                <a:sym typeface="Calibri"/>
              </a:rPr>
              <a:t>Orientation</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AutoNum type="arabicParenR"/>
            </a:pPr>
            <a:r>
              <a:rPr b="1" lang="en" sz="2100">
                <a:solidFill>
                  <a:schemeClr val="dk1"/>
                </a:solidFill>
                <a:latin typeface="Calibri"/>
                <a:ea typeface="Calibri"/>
                <a:cs typeface="Calibri"/>
                <a:sym typeface="Calibri"/>
              </a:rPr>
              <a:t>Building Portable Training Ground</a:t>
            </a:r>
            <a:endParaRPr b="1"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AutoNum type="arabicParenR"/>
            </a:pPr>
            <a:r>
              <a:rPr lang="en" sz="2100">
                <a:solidFill>
                  <a:schemeClr val="dk1"/>
                </a:solidFill>
                <a:latin typeface="Calibri"/>
                <a:ea typeface="Calibri"/>
                <a:cs typeface="Calibri"/>
                <a:sym typeface="Calibri"/>
              </a:rPr>
              <a:t>Training Module Creation</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AutoNum type="arabicParenR"/>
            </a:pPr>
            <a:r>
              <a:rPr lang="en" sz="2100">
                <a:solidFill>
                  <a:schemeClr val="dk1"/>
                </a:solidFill>
                <a:latin typeface="Calibri"/>
                <a:ea typeface="Calibri"/>
                <a:cs typeface="Calibri"/>
                <a:sym typeface="Calibri"/>
              </a:rPr>
              <a:t>Testing</a:t>
            </a:r>
            <a:endParaRPr sz="2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3" title="Built PTG Cage.jpeg"/>
          <p:cNvPicPr preferRelativeResize="0"/>
          <p:nvPr/>
        </p:nvPicPr>
        <p:blipFill>
          <a:blip r:embed="rId3">
            <a:alphaModFix/>
          </a:blip>
          <a:stretch>
            <a:fillRect/>
          </a:stretch>
        </p:blipFill>
        <p:spPr>
          <a:xfrm>
            <a:off x="2521438" y="62900"/>
            <a:ext cx="3564561" cy="4752748"/>
          </a:xfrm>
          <a:prstGeom prst="rect">
            <a:avLst/>
          </a:prstGeom>
          <a:noFill/>
          <a:ln>
            <a:noFill/>
          </a:ln>
        </p:spPr>
      </p:pic>
      <p:sp>
        <p:nvSpPr>
          <p:cNvPr id="222" name="Google Shape;222;p33"/>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223" name="Google Shape;223;p33"/>
          <p:cNvPicPr preferRelativeResize="0"/>
          <p:nvPr/>
        </p:nvPicPr>
        <p:blipFill>
          <a:blip r:embed="rId4">
            <a:alphaModFix/>
          </a:blip>
          <a:stretch>
            <a:fillRect/>
          </a:stretch>
        </p:blipFill>
        <p:spPr>
          <a:xfrm>
            <a:off x="200525" y="4417322"/>
            <a:ext cx="2220650" cy="650000"/>
          </a:xfrm>
          <a:prstGeom prst="rect">
            <a:avLst/>
          </a:prstGeom>
          <a:noFill/>
          <a:ln>
            <a:noFill/>
          </a:ln>
        </p:spPr>
      </p:pic>
      <p:sp>
        <p:nvSpPr>
          <p:cNvPr id="224" name="Google Shape;224;p33"/>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pic>
        <p:nvPicPr>
          <p:cNvPr id="225" name="Google Shape;225;p33" title="ConfigFinalPTGWires.jpeg"/>
          <p:cNvPicPr preferRelativeResize="0"/>
          <p:nvPr/>
        </p:nvPicPr>
        <p:blipFill rotWithShape="1">
          <a:blip r:embed="rId5">
            <a:alphaModFix/>
          </a:blip>
          <a:srcRect b="0" l="48203" r="0" t="0"/>
          <a:stretch/>
        </p:blipFill>
        <p:spPr>
          <a:xfrm>
            <a:off x="6493476" y="-4875"/>
            <a:ext cx="2621701" cy="4752749"/>
          </a:xfrm>
          <a:prstGeom prst="rect">
            <a:avLst/>
          </a:prstGeom>
          <a:noFill/>
          <a:ln>
            <a:noFill/>
          </a:ln>
        </p:spPr>
      </p:pic>
      <p:sp>
        <p:nvSpPr>
          <p:cNvPr id="226" name="Google Shape;226;p33"/>
          <p:cNvSpPr/>
          <p:nvPr/>
        </p:nvSpPr>
        <p:spPr>
          <a:xfrm>
            <a:off x="6086000" y="2303125"/>
            <a:ext cx="486000" cy="465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34" title="ConfigFinalPTGWires.jpeg"/>
          <p:cNvPicPr preferRelativeResize="0"/>
          <p:nvPr/>
        </p:nvPicPr>
        <p:blipFill>
          <a:blip r:embed="rId3">
            <a:alphaModFix/>
          </a:blip>
          <a:stretch>
            <a:fillRect/>
          </a:stretch>
        </p:blipFill>
        <p:spPr>
          <a:xfrm>
            <a:off x="-885475" y="0"/>
            <a:ext cx="4967624" cy="5143500"/>
          </a:xfrm>
          <a:prstGeom prst="rect">
            <a:avLst/>
          </a:prstGeom>
          <a:noFill/>
          <a:ln>
            <a:noFill/>
          </a:ln>
        </p:spPr>
      </p:pic>
      <p:pic>
        <p:nvPicPr>
          <p:cNvPr id="232" name="Google Shape;232;p34" title="6.26 Final PTG Diagram Option 2.png"/>
          <p:cNvPicPr preferRelativeResize="0"/>
          <p:nvPr/>
        </p:nvPicPr>
        <p:blipFill>
          <a:blip r:embed="rId4">
            <a:alphaModFix/>
          </a:blip>
          <a:stretch>
            <a:fillRect/>
          </a:stretch>
        </p:blipFill>
        <p:spPr>
          <a:xfrm>
            <a:off x="4572000" y="0"/>
            <a:ext cx="4598502" cy="4897101"/>
          </a:xfrm>
          <a:prstGeom prst="rect">
            <a:avLst/>
          </a:prstGeom>
          <a:noFill/>
          <a:ln>
            <a:noFill/>
          </a:ln>
        </p:spPr>
      </p:pic>
      <p:sp>
        <p:nvSpPr>
          <p:cNvPr id="233" name="Google Shape;233;p34"/>
          <p:cNvSpPr/>
          <p:nvPr/>
        </p:nvSpPr>
        <p:spPr>
          <a:xfrm>
            <a:off x="4034750" y="2155950"/>
            <a:ext cx="739200" cy="7392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34" name="Google Shape;234;p34"/>
          <p:cNvPicPr preferRelativeResize="0"/>
          <p:nvPr/>
        </p:nvPicPr>
        <p:blipFill>
          <a:blip r:embed="rId5">
            <a:alphaModFix/>
          </a:blip>
          <a:stretch>
            <a:fillRect/>
          </a:stretch>
        </p:blipFill>
        <p:spPr>
          <a:xfrm>
            <a:off x="0" y="4493497"/>
            <a:ext cx="2220650" cy="650000"/>
          </a:xfrm>
          <a:prstGeom prst="rect">
            <a:avLst/>
          </a:prstGeom>
          <a:noFill/>
          <a:ln>
            <a:noFill/>
          </a:ln>
        </p:spPr>
      </p:pic>
      <p:sp>
        <p:nvSpPr>
          <p:cNvPr id="235" name="Google Shape;235;p34"/>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35" title="jehaverlack-layer3-student-station.excalidraw.png"/>
          <p:cNvPicPr preferRelativeResize="0"/>
          <p:nvPr/>
        </p:nvPicPr>
        <p:blipFill>
          <a:blip r:embed="rId3">
            <a:alphaModFix/>
          </a:blip>
          <a:stretch>
            <a:fillRect/>
          </a:stretch>
        </p:blipFill>
        <p:spPr>
          <a:xfrm>
            <a:off x="3812600" y="-4875"/>
            <a:ext cx="3115198" cy="4922798"/>
          </a:xfrm>
          <a:prstGeom prst="rect">
            <a:avLst/>
          </a:prstGeom>
          <a:noFill/>
          <a:ln>
            <a:noFill/>
          </a:ln>
        </p:spPr>
      </p:pic>
      <p:sp>
        <p:nvSpPr>
          <p:cNvPr id="241" name="Google Shape;241;p35"/>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242" name="Google Shape;242;p35"/>
          <p:cNvPicPr preferRelativeResize="0"/>
          <p:nvPr/>
        </p:nvPicPr>
        <p:blipFill>
          <a:blip r:embed="rId4">
            <a:alphaModFix/>
          </a:blip>
          <a:stretch>
            <a:fillRect/>
          </a:stretch>
        </p:blipFill>
        <p:spPr>
          <a:xfrm>
            <a:off x="200525" y="4417322"/>
            <a:ext cx="2220650" cy="650000"/>
          </a:xfrm>
          <a:prstGeom prst="rect">
            <a:avLst/>
          </a:prstGeom>
          <a:noFill/>
          <a:ln>
            <a:noFill/>
          </a:ln>
        </p:spPr>
      </p:pic>
      <p:sp>
        <p:nvSpPr>
          <p:cNvPr id="243" name="Google Shape;243;p35"/>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6"/>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pic>
        <p:nvPicPr>
          <p:cNvPr id="249" name="Google Shape;249;p36" title="Proxmox Condensed.png"/>
          <p:cNvPicPr preferRelativeResize="0"/>
          <p:nvPr/>
        </p:nvPicPr>
        <p:blipFill rotWithShape="1">
          <a:blip r:embed="rId3">
            <a:alphaModFix/>
          </a:blip>
          <a:srcRect b="22617" l="0" r="0" t="3734"/>
          <a:stretch/>
        </p:blipFill>
        <p:spPr>
          <a:xfrm>
            <a:off x="0" y="0"/>
            <a:ext cx="9144000" cy="4111725"/>
          </a:xfrm>
          <a:prstGeom prst="rect">
            <a:avLst/>
          </a:prstGeom>
          <a:noFill/>
          <a:ln>
            <a:noFill/>
          </a:ln>
        </p:spPr>
      </p:pic>
      <p:pic>
        <p:nvPicPr>
          <p:cNvPr id="250" name="Google Shape;250;p36"/>
          <p:cNvPicPr preferRelativeResize="0"/>
          <p:nvPr/>
        </p:nvPicPr>
        <p:blipFill>
          <a:blip r:embed="rId4">
            <a:alphaModFix/>
          </a:blip>
          <a:stretch>
            <a:fillRect/>
          </a:stretch>
        </p:blipFill>
        <p:spPr>
          <a:xfrm>
            <a:off x="0" y="4493497"/>
            <a:ext cx="2220650" cy="650000"/>
          </a:xfrm>
          <a:prstGeom prst="rect">
            <a:avLst/>
          </a:prstGeom>
          <a:noFill/>
          <a:ln>
            <a:noFill/>
          </a:ln>
        </p:spPr>
      </p:pic>
      <p:sp>
        <p:nvSpPr>
          <p:cNvPr id="251" name="Google Shape;251;p36"/>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7"/>
          <p:cNvPicPr preferRelativeResize="0"/>
          <p:nvPr/>
        </p:nvPicPr>
        <p:blipFill>
          <a:blip r:embed="rId3">
            <a:alphaModFix/>
          </a:blip>
          <a:stretch>
            <a:fillRect/>
          </a:stretch>
        </p:blipFill>
        <p:spPr>
          <a:xfrm>
            <a:off x="0" y="4493497"/>
            <a:ext cx="2220650" cy="650000"/>
          </a:xfrm>
          <a:prstGeom prst="rect">
            <a:avLst/>
          </a:prstGeom>
          <a:noFill/>
          <a:ln>
            <a:noFill/>
          </a:ln>
        </p:spPr>
      </p:pic>
      <p:sp>
        <p:nvSpPr>
          <p:cNvPr id="257" name="Google Shape;257;p37"/>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pic>
        <p:nvPicPr>
          <p:cNvPr id="258" name="Google Shape;258;p37" title="Screenshot from 2026-07-23 09-53-00.png"/>
          <p:cNvPicPr preferRelativeResize="0"/>
          <p:nvPr/>
        </p:nvPicPr>
        <p:blipFill rotWithShape="1">
          <a:blip r:embed="rId4">
            <a:alphaModFix/>
          </a:blip>
          <a:srcRect b="22610" l="517" r="0" t="10299"/>
          <a:stretch/>
        </p:blipFill>
        <p:spPr>
          <a:xfrm>
            <a:off x="0" y="0"/>
            <a:ext cx="9144000" cy="40886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type="title"/>
          </p:nvPr>
        </p:nvSpPr>
        <p:spPr>
          <a:xfrm>
            <a:off x="2553925" y="-3007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My Project</a:t>
            </a:r>
            <a:endParaRPr>
              <a:solidFill>
                <a:srgbClr val="3D85C6"/>
              </a:solidFill>
            </a:endParaRPr>
          </a:p>
        </p:txBody>
      </p:sp>
      <p:sp>
        <p:nvSpPr>
          <p:cNvPr id="264" name="Google Shape;264;p38"/>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265" name="Google Shape;265;p38"/>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266" name="Google Shape;266;p38"/>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267" name="Google Shape;267;p38"/>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268" name="Google Shape;268;p38"/>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269" name="Google Shape;269;p38"/>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
        <p:nvSpPr>
          <p:cNvPr id="270" name="Google Shape;270;p38"/>
          <p:cNvSpPr txBox="1"/>
          <p:nvPr/>
        </p:nvSpPr>
        <p:spPr>
          <a:xfrm>
            <a:off x="3742125" y="947075"/>
            <a:ext cx="4350300" cy="1477500"/>
          </a:xfrm>
          <a:prstGeom prst="rect">
            <a:avLst/>
          </a:prstGeom>
          <a:noFill/>
          <a:ln>
            <a:noFill/>
          </a:ln>
        </p:spPr>
        <p:txBody>
          <a:bodyPr anchorCtr="0" anchor="t" bIns="91425" lIns="91425" spcFirstLastPara="1" rIns="91425" wrap="square" tIns="91425">
            <a:spAutoFit/>
          </a:bodyPr>
          <a:lstStyle/>
          <a:p>
            <a:pPr indent="-361950" lvl="0" marL="457200" rtl="0" algn="l">
              <a:spcBef>
                <a:spcPts val="0"/>
              </a:spcBef>
              <a:spcAft>
                <a:spcPts val="0"/>
              </a:spcAft>
              <a:buClr>
                <a:schemeClr val="dk1"/>
              </a:buClr>
              <a:buSzPts val="2100"/>
              <a:buFont typeface="Calibri"/>
              <a:buAutoNum type="arabicParenR"/>
            </a:pPr>
            <a:r>
              <a:rPr lang="en" sz="2100">
                <a:solidFill>
                  <a:schemeClr val="dk1"/>
                </a:solidFill>
                <a:latin typeface="Calibri"/>
                <a:ea typeface="Calibri"/>
                <a:cs typeface="Calibri"/>
                <a:sym typeface="Calibri"/>
              </a:rPr>
              <a:t>Orientation</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AutoNum type="arabicParenR"/>
            </a:pPr>
            <a:r>
              <a:rPr lang="en" sz="2100">
                <a:solidFill>
                  <a:schemeClr val="dk1"/>
                </a:solidFill>
                <a:latin typeface="Calibri"/>
                <a:ea typeface="Calibri"/>
                <a:cs typeface="Calibri"/>
                <a:sym typeface="Calibri"/>
              </a:rPr>
              <a:t>Building Portable Training Ground</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AutoNum type="arabicParenR"/>
            </a:pPr>
            <a:r>
              <a:rPr b="1" lang="en" sz="2100">
                <a:solidFill>
                  <a:schemeClr val="dk1"/>
                </a:solidFill>
                <a:latin typeface="Calibri"/>
                <a:ea typeface="Calibri"/>
                <a:cs typeface="Calibri"/>
                <a:sym typeface="Calibri"/>
              </a:rPr>
              <a:t>Training Module Creation</a:t>
            </a:r>
            <a:endParaRPr b="1"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AutoNum type="arabicParenR"/>
            </a:pPr>
            <a:r>
              <a:rPr lang="en" sz="2100">
                <a:solidFill>
                  <a:schemeClr val="dk1"/>
                </a:solidFill>
                <a:latin typeface="Calibri"/>
                <a:ea typeface="Calibri"/>
                <a:cs typeface="Calibri"/>
                <a:sym typeface="Calibri"/>
              </a:rPr>
              <a:t>Testing</a:t>
            </a:r>
            <a:endParaRPr sz="21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9"/>
          <p:cNvSpPr txBox="1"/>
          <p:nvPr>
            <p:ph type="title"/>
          </p:nvPr>
        </p:nvSpPr>
        <p:spPr>
          <a:xfrm>
            <a:off x="2652500" y="764532"/>
            <a:ext cx="6522300" cy="822300"/>
          </a:xfrm>
          <a:prstGeom prst="rect">
            <a:avLst/>
          </a:prstGeom>
        </p:spPr>
        <p:txBody>
          <a:bodyPr anchorCtr="0" anchor="ctr" bIns="75600" lIns="75600" spcFirstLastPara="1" rIns="75600" wrap="square" tIns="75600">
            <a:normAutofit/>
          </a:bodyPr>
          <a:lstStyle/>
          <a:p>
            <a:pPr indent="0" lvl="0" marL="0" rtl="0" algn="l">
              <a:spcBef>
                <a:spcPts val="0"/>
              </a:spcBef>
              <a:spcAft>
                <a:spcPts val="0"/>
              </a:spcAft>
              <a:buNone/>
            </a:pPr>
            <a:r>
              <a:rPr lang="en" sz="2729"/>
              <a:t>Module 1: IPv4 Network Basics</a:t>
            </a:r>
            <a:endParaRPr sz="2729"/>
          </a:p>
        </p:txBody>
      </p:sp>
      <p:sp>
        <p:nvSpPr>
          <p:cNvPr id="276" name="Google Shape;276;p39"/>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77" name="Google Shape;277;p39"/>
          <p:cNvSpPr txBox="1"/>
          <p:nvPr>
            <p:ph idx="1" type="body"/>
          </p:nvPr>
        </p:nvSpPr>
        <p:spPr>
          <a:xfrm>
            <a:off x="2652500" y="1670407"/>
            <a:ext cx="6522300" cy="2698800"/>
          </a:xfrm>
          <a:prstGeom prst="rect">
            <a:avLst/>
          </a:prstGeom>
        </p:spPr>
        <p:txBody>
          <a:bodyPr anchorCtr="0" anchor="t" bIns="75600" lIns="75600" spcFirstLastPara="1" rIns="75600" wrap="square" tIns="75600">
            <a:normAutofit fontScale="77500" lnSpcReduction="20000"/>
          </a:bodyPr>
          <a:lstStyle/>
          <a:p>
            <a:pPr indent="-278589" lvl="0" marL="546151" rtl="0" algn="l">
              <a:lnSpc>
                <a:spcPct val="115000"/>
              </a:lnSpc>
              <a:spcBef>
                <a:spcPts val="0"/>
              </a:spcBef>
              <a:spcAft>
                <a:spcPts val="0"/>
              </a:spcAft>
              <a:buSzPct val="73333"/>
              <a:buFont typeface="Arial"/>
              <a:buChar char="●"/>
            </a:pPr>
            <a:r>
              <a:rPr lang="en" sz="2481">
                <a:latin typeface="Arial"/>
                <a:ea typeface="Arial"/>
                <a:cs typeface="Arial"/>
                <a:sym typeface="Arial"/>
              </a:rPr>
              <a:t>M1: ​</a:t>
            </a:r>
            <a:endParaRPr sz="2481">
              <a:latin typeface="Arial"/>
              <a:ea typeface="Arial"/>
              <a:cs typeface="Arial"/>
              <a:sym typeface="Arial"/>
            </a:endParaRPr>
          </a:p>
          <a:p>
            <a:pPr indent="-278589" lvl="0" marL="1071296" rtl="0" algn="l">
              <a:lnSpc>
                <a:spcPct val="115000"/>
              </a:lnSpc>
              <a:spcBef>
                <a:spcPts val="0"/>
              </a:spcBef>
              <a:spcAft>
                <a:spcPts val="0"/>
              </a:spcAft>
              <a:buSzPct val="73333"/>
              <a:buAutoNum type="arabicPeriod"/>
            </a:pPr>
            <a:r>
              <a:rPr b="1" lang="en" sz="2481">
                <a:latin typeface="Arial"/>
                <a:ea typeface="Arial"/>
                <a:cs typeface="Arial"/>
                <a:sym typeface="Arial"/>
              </a:rPr>
              <a:t>1:30pm – 1:50pm</a:t>
            </a:r>
            <a:r>
              <a:rPr i="1" lang="en" sz="2481">
                <a:latin typeface="Arial"/>
                <a:ea typeface="Arial"/>
                <a:cs typeface="Arial"/>
                <a:sym typeface="Arial"/>
              </a:rPr>
              <a:t> </a:t>
            </a:r>
            <a:r>
              <a:rPr lang="en" sz="2481">
                <a:latin typeface="Arial"/>
                <a:ea typeface="Arial"/>
                <a:cs typeface="Arial"/>
                <a:sym typeface="Arial"/>
              </a:rPr>
              <a:t>- </a:t>
            </a:r>
            <a:r>
              <a:rPr i="1" lang="en" sz="2481">
                <a:latin typeface="Arial"/>
                <a:ea typeface="Arial"/>
                <a:cs typeface="Arial"/>
                <a:sym typeface="Arial"/>
              </a:rPr>
              <a:t>Your terminal, Linux </a:t>
            </a:r>
            <a:r>
              <a:rPr lang="en" sz="2481">
                <a:latin typeface="Arial"/>
                <a:ea typeface="Arial"/>
                <a:cs typeface="Arial"/>
                <a:sym typeface="Arial"/>
              </a:rPr>
              <a:t>​</a:t>
            </a:r>
            <a:endParaRPr sz="2481">
              <a:latin typeface="Arial"/>
              <a:ea typeface="Arial"/>
              <a:cs typeface="Arial"/>
              <a:sym typeface="Arial"/>
            </a:endParaRPr>
          </a:p>
          <a:p>
            <a:pPr indent="-278589" lvl="0" marL="1071296" rtl="0" algn="l">
              <a:lnSpc>
                <a:spcPct val="115000"/>
              </a:lnSpc>
              <a:spcBef>
                <a:spcPts val="0"/>
              </a:spcBef>
              <a:spcAft>
                <a:spcPts val="0"/>
              </a:spcAft>
              <a:buSzPct val="73333"/>
              <a:buAutoNum type="arabicPeriod"/>
            </a:pPr>
            <a:r>
              <a:rPr b="1" lang="en" sz="2481">
                <a:latin typeface="Arial"/>
                <a:ea typeface="Arial"/>
                <a:cs typeface="Arial"/>
                <a:sym typeface="Arial"/>
              </a:rPr>
              <a:t>1:50pm – 2:20pm</a:t>
            </a:r>
            <a:r>
              <a:rPr lang="en" sz="2481">
                <a:latin typeface="Arial"/>
                <a:ea typeface="Arial"/>
                <a:cs typeface="Arial"/>
                <a:sym typeface="Arial"/>
              </a:rPr>
              <a:t> - </a:t>
            </a:r>
            <a:r>
              <a:rPr i="1" lang="en" sz="2481">
                <a:latin typeface="Arial"/>
                <a:ea typeface="Arial"/>
                <a:cs typeface="Arial"/>
                <a:sym typeface="Arial"/>
              </a:rPr>
              <a:t>Binary, IPv4, (ping, broadcast, subnets and their mask, etc.)</a:t>
            </a:r>
            <a:r>
              <a:rPr lang="en" sz="2481">
                <a:latin typeface="Arial"/>
                <a:ea typeface="Arial"/>
                <a:cs typeface="Arial"/>
                <a:sym typeface="Arial"/>
              </a:rPr>
              <a:t>​</a:t>
            </a:r>
            <a:endParaRPr sz="2481">
              <a:latin typeface="Arial"/>
              <a:ea typeface="Arial"/>
              <a:cs typeface="Arial"/>
              <a:sym typeface="Arial"/>
            </a:endParaRPr>
          </a:p>
          <a:p>
            <a:pPr indent="-278589" lvl="0" marL="1071296" rtl="0" algn="l">
              <a:lnSpc>
                <a:spcPct val="115000"/>
              </a:lnSpc>
              <a:spcBef>
                <a:spcPts val="0"/>
              </a:spcBef>
              <a:spcAft>
                <a:spcPts val="0"/>
              </a:spcAft>
              <a:buSzPct val="73333"/>
              <a:buAutoNum type="arabicPeriod"/>
            </a:pPr>
            <a:r>
              <a:rPr b="1" lang="en" sz="2481">
                <a:latin typeface="Arial"/>
                <a:ea typeface="Arial"/>
                <a:cs typeface="Arial"/>
                <a:sym typeface="Arial"/>
              </a:rPr>
              <a:t>2:20pm – 2:50pm </a:t>
            </a:r>
            <a:r>
              <a:rPr lang="en" sz="2481">
                <a:latin typeface="Arial"/>
                <a:ea typeface="Arial"/>
                <a:cs typeface="Arial"/>
                <a:sym typeface="Arial"/>
              </a:rPr>
              <a:t>-</a:t>
            </a:r>
            <a:r>
              <a:rPr i="1" lang="en" sz="2481">
                <a:latin typeface="Arial"/>
                <a:ea typeface="Arial"/>
                <a:cs typeface="Arial"/>
                <a:sym typeface="Arial"/>
              </a:rPr>
              <a:t> DHCP/MAC/DNS</a:t>
            </a:r>
            <a:r>
              <a:rPr lang="en" sz="2481">
                <a:latin typeface="Arial"/>
                <a:ea typeface="Arial"/>
                <a:cs typeface="Arial"/>
                <a:sym typeface="Arial"/>
              </a:rPr>
              <a:t>​</a:t>
            </a:r>
            <a:endParaRPr sz="2481">
              <a:latin typeface="Arial"/>
              <a:ea typeface="Arial"/>
              <a:cs typeface="Arial"/>
              <a:sym typeface="Arial"/>
            </a:endParaRPr>
          </a:p>
          <a:p>
            <a:pPr indent="-278589" lvl="0" marL="1071296" rtl="0" algn="l">
              <a:lnSpc>
                <a:spcPct val="115000"/>
              </a:lnSpc>
              <a:spcBef>
                <a:spcPts val="0"/>
              </a:spcBef>
              <a:spcAft>
                <a:spcPts val="0"/>
              </a:spcAft>
              <a:buSzPct val="73333"/>
              <a:buAutoNum type="arabicPeriod"/>
            </a:pPr>
            <a:r>
              <a:rPr b="1" lang="en" sz="2481">
                <a:latin typeface="Arial"/>
                <a:ea typeface="Arial"/>
                <a:cs typeface="Arial"/>
                <a:sym typeface="Arial"/>
              </a:rPr>
              <a:t>2:50pm – 3:00pm </a:t>
            </a:r>
            <a:r>
              <a:rPr lang="en" sz="2481">
                <a:latin typeface="Arial"/>
                <a:ea typeface="Arial"/>
                <a:cs typeface="Arial"/>
                <a:sym typeface="Arial"/>
              </a:rPr>
              <a:t>- </a:t>
            </a:r>
            <a:r>
              <a:rPr i="1" lang="en" sz="2481">
                <a:latin typeface="Arial"/>
                <a:ea typeface="Arial"/>
                <a:cs typeface="Arial"/>
                <a:sym typeface="Arial"/>
              </a:rPr>
              <a:t>10 minute break</a:t>
            </a:r>
            <a:r>
              <a:rPr lang="en" sz="2481">
                <a:latin typeface="Arial"/>
                <a:ea typeface="Arial"/>
                <a:cs typeface="Arial"/>
                <a:sym typeface="Arial"/>
              </a:rPr>
              <a:t>​</a:t>
            </a:r>
            <a:endParaRPr sz="2481">
              <a:latin typeface="Arial"/>
              <a:ea typeface="Arial"/>
              <a:cs typeface="Arial"/>
              <a:sym typeface="Arial"/>
            </a:endParaRPr>
          </a:p>
          <a:p>
            <a:pPr indent="-278589" lvl="0" marL="1071296" rtl="0" algn="l">
              <a:lnSpc>
                <a:spcPct val="115000"/>
              </a:lnSpc>
              <a:spcBef>
                <a:spcPts val="0"/>
              </a:spcBef>
              <a:spcAft>
                <a:spcPts val="0"/>
              </a:spcAft>
              <a:buSzPct val="73333"/>
              <a:buAutoNum type="arabicPeriod"/>
            </a:pPr>
            <a:r>
              <a:rPr b="1" lang="en" sz="2481">
                <a:latin typeface="Arial"/>
                <a:ea typeface="Arial"/>
                <a:cs typeface="Arial"/>
                <a:sym typeface="Arial"/>
              </a:rPr>
              <a:t> 3:00pm – 3:30pm </a:t>
            </a:r>
            <a:r>
              <a:rPr lang="en" sz="2481">
                <a:latin typeface="Arial"/>
                <a:ea typeface="Arial"/>
                <a:cs typeface="Arial"/>
                <a:sym typeface="Arial"/>
              </a:rPr>
              <a:t>- </a:t>
            </a:r>
            <a:r>
              <a:rPr i="1" lang="en" sz="2481">
                <a:latin typeface="Arial"/>
                <a:ea typeface="Arial"/>
                <a:cs typeface="Arial"/>
                <a:sym typeface="Arial"/>
              </a:rPr>
              <a:t>NTP, LAN, Network Segmentation</a:t>
            </a:r>
            <a:r>
              <a:rPr lang="en" sz="2481">
                <a:latin typeface="Arial"/>
                <a:ea typeface="Arial"/>
                <a:cs typeface="Arial"/>
                <a:sym typeface="Arial"/>
              </a:rPr>
              <a:t> ​</a:t>
            </a:r>
            <a:endParaRPr sz="2481">
              <a:latin typeface="Arial"/>
              <a:ea typeface="Arial"/>
              <a:cs typeface="Arial"/>
              <a:sym typeface="Arial"/>
            </a:endParaRPr>
          </a:p>
          <a:p>
            <a:pPr indent="-278589" lvl="0" marL="1071296" rtl="0" algn="l">
              <a:lnSpc>
                <a:spcPct val="115000"/>
              </a:lnSpc>
              <a:spcBef>
                <a:spcPts val="0"/>
              </a:spcBef>
              <a:spcAft>
                <a:spcPts val="0"/>
              </a:spcAft>
              <a:buSzPct val="73333"/>
              <a:buAutoNum type="arabicPeriod"/>
            </a:pPr>
            <a:r>
              <a:rPr b="1" lang="en" sz="2481">
                <a:latin typeface="Arial"/>
                <a:ea typeface="Arial"/>
                <a:cs typeface="Arial"/>
                <a:sym typeface="Arial"/>
              </a:rPr>
              <a:t>End of Module 1</a:t>
            </a:r>
            <a:r>
              <a:rPr lang="en" sz="2481">
                <a:latin typeface="Arial"/>
                <a:ea typeface="Arial"/>
                <a:cs typeface="Arial"/>
                <a:sym typeface="Arial"/>
              </a:rPr>
              <a:t>​</a:t>
            </a:r>
            <a:endParaRPr sz="1737"/>
          </a:p>
        </p:txBody>
      </p:sp>
      <p:sp>
        <p:nvSpPr>
          <p:cNvPr id="278" name="Google Shape;278;p39"/>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pic>
        <p:nvPicPr>
          <p:cNvPr id="279" name="Google Shape;279;p39"/>
          <p:cNvPicPr preferRelativeResize="0"/>
          <p:nvPr/>
        </p:nvPicPr>
        <p:blipFill>
          <a:blip r:embed="rId3">
            <a:alphaModFix/>
          </a:blip>
          <a:stretch>
            <a:fillRect/>
          </a:stretch>
        </p:blipFill>
        <p:spPr>
          <a:xfrm>
            <a:off x="200525" y="4417322"/>
            <a:ext cx="2220650" cy="650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0"/>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Aside from the pinging activity for network segmentation, there were many others…</a:t>
            </a:r>
            <a:endParaRPr/>
          </a:p>
        </p:txBody>
      </p:sp>
      <p:pic>
        <p:nvPicPr>
          <p:cNvPr id="285" name="Google Shape;285;p40"/>
          <p:cNvPicPr preferRelativeResize="0"/>
          <p:nvPr/>
        </p:nvPicPr>
        <p:blipFill>
          <a:blip r:embed="rId3">
            <a:alphaModFix/>
          </a:blip>
          <a:stretch>
            <a:fillRect/>
          </a:stretch>
        </p:blipFill>
        <p:spPr>
          <a:xfrm>
            <a:off x="703000" y="1184425"/>
            <a:ext cx="7737991" cy="3912875"/>
          </a:xfrm>
          <a:prstGeom prst="rect">
            <a:avLst/>
          </a:prstGeom>
          <a:noFill/>
          <a:ln>
            <a:noFill/>
          </a:ln>
        </p:spPr>
      </p:pic>
      <p:sp>
        <p:nvSpPr>
          <p:cNvPr id="286" name="Google Shape;286;p40"/>
          <p:cNvSpPr txBox="1"/>
          <p:nvPr/>
        </p:nvSpPr>
        <p:spPr>
          <a:xfrm>
            <a:off x="778981" y="1481055"/>
            <a:ext cx="2201400" cy="2201400"/>
          </a:xfrm>
          <a:prstGeom prst="rect">
            <a:avLst/>
          </a:prstGeom>
          <a:noFill/>
          <a:ln>
            <a:noFill/>
          </a:ln>
        </p:spPr>
        <p:txBody>
          <a:bodyPr anchorCtr="0" anchor="ctr" bIns="67075" lIns="67075" spcFirstLastPara="1" rIns="67075" wrap="square" tIns="67075">
            <a:noAutofit/>
          </a:bodyPr>
          <a:lstStyle/>
          <a:p>
            <a:pPr indent="0" lvl="0" marL="0" rtl="0" algn="l">
              <a:spcBef>
                <a:spcPts val="0"/>
              </a:spcBef>
              <a:spcAft>
                <a:spcPts val="0"/>
              </a:spcAft>
              <a:buNone/>
            </a:pPr>
            <a:r>
              <a:rPr lang="en" sz="881">
                <a:latin typeface="Times New Roman"/>
                <a:ea typeface="Times New Roman"/>
                <a:cs typeface="Times New Roman"/>
                <a:sym typeface="Times New Roman"/>
              </a:rPr>
              <a:t> </a:t>
            </a:r>
            <a:endParaRPr sz="1027"/>
          </a:p>
        </p:txBody>
      </p:sp>
      <p:sp>
        <p:nvSpPr>
          <p:cNvPr id="287" name="Google Shape;287;p40"/>
          <p:cNvSpPr txBox="1"/>
          <p:nvPr/>
        </p:nvSpPr>
        <p:spPr>
          <a:xfrm>
            <a:off x="2142308" y="44601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93" name="Google Shape;293;p41"/>
          <p:cNvSpPr txBox="1"/>
          <p:nvPr>
            <p:ph type="title"/>
          </p:nvPr>
        </p:nvSpPr>
        <p:spPr>
          <a:xfrm>
            <a:off x="2621700" y="764530"/>
            <a:ext cx="6522300" cy="822300"/>
          </a:xfrm>
          <a:prstGeom prst="rect">
            <a:avLst/>
          </a:prstGeom>
        </p:spPr>
        <p:txBody>
          <a:bodyPr anchorCtr="0" anchor="ctr" bIns="75600" lIns="75600" spcFirstLastPara="1" rIns="75600" wrap="square" tIns="75600">
            <a:normAutofit/>
          </a:bodyPr>
          <a:lstStyle/>
          <a:p>
            <a:pPr indent="0" lvl="0" marL="0" rtl="0" algn="l">
              <a:spcBef>
                <a:spcPts val="0"/>
              </a:spcBef>
              <a:spcAft>
                <a:spcPts val="0"/>
              </a:spcAft>
              <a:buNone/>
            </a:pPr>
            <a:r>
              <a:rPr lang="en" sz="2729"/>
              <a:t>Module 2: Firewalls</a:t>
            </a:r>
            <a:endParaRPr sz="2729"/>
          </a:p>
        </p:txBody>
      </p:sp>
      <p:sp>
        <p:nvSpPr>
          <p:cNvPr id="294" name="Google Shape;294;p41"/>
          <p:cNvSpPr txBox="1"/>
          <p:nvPr>
            <p:ph idx="1" type="body"/>
          </p:nvPr>
        </p:nvSpPr>
        <p:spPr>
          <a:xfrm>
            <a:off x="2621700" y="1670405"/>
            <a:ext cx="6522300" cy="2698800"/>
          </a:xfrm>
          <a:prstGeom prst="rect">
            <a:avLst/>
          </a:prstGeom>
        </p:spPr>
        <p:txBody>
          <a:bodyPr anchorCtr="0" anchor="t" bIns="75600" lIns="75600" spcFirstLastPara="1" rIns="75600" wrap="square" tIns="75600">
            <a:normAutofit fontScale="85000" lnSpcReduction="20000"/>
          </a:bodyPr>
          <a:lstStyle/>
          <a:p>
            <a:pPr indent="0" lvl="0" marL="0" rtl="0" algn="l">
              <a:lnSpc>
                <a:spcPct val="115000"/>
              </a:lnSpc>
              <a:spcBef>
                <a:spcPts val="0"/>
              </a:spcBef>
              <a:spcAft>
                <a:spcPts val="0"/>
              </a:spcAft>
              <a:buClr>
                <a:schemeClr val="dk1"/>
              </a:buClr>
              <a:buSzPct val="55421"/>
              <a:buFont typeface="Arial"/>
              <a:buNone/>
            </a:pPr>
            <a:r>
              <a:rPr lang="en" sz="1985">
                <a:latin typeface="Arial"/>
                <a:ea typeface="Arial"/>
                <a:cs typeface="Arial"/>
                <a:sym typeface="Arial"/>
              </a:rPr>
              <a:t>M2:</a:t>
            </a:r>
            <a:endParaRPr sz="1985">
              <a:latin typeface="Arial"/>
              <a:ea typeface="Arial"/>
              <a:cs typeface="Arial"/>
              <a:sym typeface="Arial"/>
            </a:endParaRPr>
          </a:p>
          <a:p>
            <a:pPr indent="-280559" lvl="0" marL="546151" rtl="0" algn="l">
              <a:lnSpc>
                <a:spcPct val="115000"/>
              </a:lnSpc>
              <a:spcBef>
                <a:spcPts val="0"/>
              </a:spcBef>
              <a:spcAft>
                <a:spcPts val="0"/>
              </a:spcAft>
              <a:buSzPct val="73214"/>
              <a:buFont typeface="Arial"/>
              <a:buChar char="●"/>
            </a:pPr>
            <a:r>
              <a:rPr b="1" lang="en" sz="2316">
                <a:latin typeface="Arial"/>
                <a:ea typeface="Arial"/>
                <a:cs typeface="Arial"/>
                <a:sym typeface="Arial"/>
              </a:rPr>
              <a:t>3:30pm – 4:10pm</a:t>
            </a:r>
            <a:r>
              <a:rPr lang="en" sz="2316">
                <a:latin typeface="Arial"/>
                <a:ea typeface="Arial"/>
                <a:cs typeface="Arial"/>
                <a:sym typeface="Arial"/>
              </a:rPr>
              <a:t> - </a:t>
            </a:r>
            <a:r>
              <a:rPr i="1" lang="en" sz="2316">
                <a:latin typeface="Arial"/>
                <a:ea typeface="Arial"/>
                <a:cs typeface="Arial"/>
                <a:sym typeface="Arial"/>
              </a:rPr>
              <a:t>What is a Firewall? Diagram Current Network, Get Into OPNsense WUI</a:t>
            </a:r>
            <a:r>
              <a:rPr lang="en" sz="2316">
                <a:latin typeface="Arial"/>
                <a:ea typeface="Arial"/>
                <a:cs typeface="Arial"/>
                <a:sym typeface="Arial"/>
              </a:rPr>
              <a:t>​</a:t>
            </a:r>
            <a:endParaRPr sz="2316">
              <a:latin typeface="Arial"/>
              <a:ea typeface="Arial"/>
              <a:cs typeface="Arial"/>
              <a:sym typeface="Arial"/>
            </a:endParaRPr>
          </a:p>
          <a:p>
            <a:pPr indent="-280559" lvl="0" marL="546151" rtl="0" algn="l">
              <a:lnSpc>
                <a:spcPct val="115000"/>
              </a:lnSpc>
              <a:spcBef>
                <a:spcPts val="0"/>
              </a:spcBef>
              <a:spcAft>
                <a:spcPts val="0"/>
              </a:spcAft>
              <a:buSzPct val="73214"/>
              <a:buFont typeface="Arial"/>
              <a:buChar char="●"/>
            </a:pPr>
            <a:r>
              <a:rPr b="1" lang="en" sz="2316">
                <a:latin typeface="Arial"/>
                <a:ea typeface="Arial"/>
                <a:cs typeface="Arial"/>
                <a:sym typeface="Arial"/>
              </a:rPr>
              <a:t>4:10pm – 4:20pm</a:t>
            </a:r>
            <a:r>
              <a:rPr lang="en" sz="2316">
                <a:latin typeface="Arial"/>
                <a:ea typeface="Arial"/>
                <a:cs typeface="Arial"/>
                <a:sym typeface="Arial"/>
              </a:rPr>
              <a:t> - </a:t>
            </a:r>
            <a:r>
              <a:rPr i="1" lang="en" sz="2316">
                <a:latin typeface="Arial"/>
                <a:ea typeface="Arial"/>
                <a:cs typeface="Arial"/>
                <a:sym typeface="Arial"/>
              </a:rPr>
              <a:t>10 minute break</a:t>
            </a:r>
            <a:r>
              <a:rPr lang="en" sz="2316">
                <a:latin typeface="Arial"/>
                <a:ea typeface="Arial"/>
                <a:cs typeface="Arial"/>
                <a:sym typeface="Arial"/>
              </a:rPr>
              <a:t>​</a:t>
            </a:r>
            <a:endParaRPr sz="2316">
              <a:latin typeface="Arial"/>
              <a:ea typeface="Arial"/>
              <a:cs typeface="Arial"/>
              <a:sym typeface="Arial"/>
            </a:endParaRPr>
          </a:p>
          <a:p>
            <a:pPr indent="-280559" lvl="0" marL="546151" rtl="0" algn="l">
              <a:lnSpc>
                <a:spcPct val="115000"/>
              </a:lnSpc>
              <a:spcBef>
                <a:spcPts val="0"/>
              </a:spcBef>
              <a:spcAft>
                <a:spcPts val="0"/>
              </a:spcAft>
              <a:buSzPct val="73214"/>
              <a:buFont typeface="Arial"/>
              <a:buChar char="●"/>
            </a:pPr>
            <a:r>
              <a:rPr b="1" lang="en" sz="2316">
                <a:latin typeface="Arial"/>
                <a:ea typeface="Arial"/>
                <a:cs typeface="Arial"/>
                <a:sym typeface="Arial"/>
              </a:rPr>
              <a:t>4:20pm – 5:20pm</a:t>
            </a:r>
            <a:r>
              <a:rPr lang="en" sz="2316">
                <a:latin typeface="Arial"/>
                <a:ea typeface="Arial"/>
                <a:cs typeface="Arial"/>
                <a:sym typeface="Arial"/>
              </a:rPr>
              <a:t> - </a:t>
            </a:r>
            <a:r>
              <a:rPr i="1" lang="en" sz="2316">
                <a:latin typeface="Arial"/>
                <a:ea typeface="Arial"/>
                <a:cs typeface="Arial"/>
                <a:sym typeface="Arial"/>
              </a:rPr>
              <a:t>Configure VM DHCP, DNS, and NTP, Testing</a:t>
            </a:r>
            <a:r>
              <a:rPr lang="en" sz="2316">
                <a:latin typeface="Arial"/>
                <a:ea typeface="Arial"/>
                <a:cs typeface="Arial"/>
                <a:sym typeface="Arial"/>
              </a:rPr>
              <a:t>​</a:t>
            </a:r>
            <a:endParaRPr sz="2316">
              <a:latin typeface="Arial"/>
              <a:ea typeface="Arial"/>
              <a:cs typeface="Arial"/>
              <a:sym typeface="Arial"/>
            </a:endParaRPr>
          </a:p>
          <a:p>
            <a:pPr indent="-280559" lvl="0" marL="546151" rtl="0" algn="l">
              <a:lnSpc>
                <a:spcPct val="115000"/>
              </a:lnSpc>
              <a:spcBef>
                <a:spcPts val="0"/>
              </a:spcBef>
              <a:spcAft>
                <a:spcPts val="0"/>
              </a:spcAft>
              <a:buSzPct val="73214"/>
              <a:buFont typeface="Arial"/>
              <a:buChar char="●"/>
            </a:pPr>
            <a:r>
              <a:rPr b="1" lang="en" sz="2316">
                <a:latin typeface="Arial"/>
                <a:ea typeface="Arial"/>
                <a:cs typeface="Arial"/>
                <a:sym typeface="Arial"/>
              </a:rPr>
              <a:t>5:20pm – 6:20pm </a:t>
            </a:r>
            <a:r>
              <a:rPr lang="en" sz="2316">
                <a:latin typeface="Arial"/>
                <a:ea typeface="Arial"/>
                <a:cs typeface="Arial"/>
                <a:sym typeface="Arial"/>
              </a:rPr>
              <a:t>- </a:t>
            </a:r>
            <a:r>
              <a:rPr i="1" lang="en" sz="2316">
                <a:latin typeface="Arial"/>
                <a:ea typeface="Arial"/>
                <a:cs typeface="Arial"/>
                <a:sym typeface="Arial"/>
              </a:rPr>
              <a:t>Firewall Rules, Configuration, Testing</a:t>
            </a:r>
            <a:r>
              <a:rPr lang="en" sz="2316">
                <a:latin typeface="Arial"/>
                <a:ea typeface="Arial"/>
                <a:cs typeface="Arial"/>
                <a:sym typeface="Arial"/>
              </a:rPr>
              <a:t>​</a:t>
            </a:r>
            <a:endParaRPr sz="2316">
              <a:latin typeface="Arial"/>
              <a:ea typeface="Arial"/>
              <a:cs typeface="Arial"/>
              <a:sym typeface="Arial"/>
            </a:endParaRPr>
          </a:p>
          <a:p>
            <a:pPr indent="-280559" lvl="0" marL="546151" rtl="0" algn="l">
              <a:lnSpc>
                <a:spcPct val="115000"/>
              </a:lnSpc>
              <a:spcBef>
                <a:spcPts val="0"/>
              </a:spcBef>
              <a:spcAft>
                <a:spcPts val="0"/>
              </a:spcAft>
              <a:buSzPct val="73214"/>
              <a:buFont typeface="Arial"/>
              <a:buChar char="●"/>
            </a:pPr>
            <a:r>
              <a:rPr b="1" lang="en" sz="2316">
                <a:latin typeface="Arial"/>
                <a:ea typeface="Arial"/>
                <a:cs typeface="Arial"/>
                <a:sym typeface="Arial"/>
              </a:rPr>
              <a:t>6:20pm – 6:30pm </a:t>
            </a:r>
            <a:r>
              <a:rPr lang="en" sz="2316">
                <a:latin typeface="Arial"/>
                <a:ea typeface="Arial"/>
                <a:cs typeface="Arial"/>
                <a:sym typeface="Arial"/>
              </a:rPr>
              <a:t>- </a:t>
            </a:r>
            <a:r>
              <a:rPr i="1" lang="en" sz="2316">
                <a:latin typeface="Arial"/>
                <a:ea typeface="Arial"/>
                <a:cs typeface="Arial"/>
                <a:sym typeface="Arial"/>
              </a:rPr>
              <a:t>Feedback Form, END</a:t>
            </a:r>
            <a:endParaRPr sz="1737"/>
          </a:p>
        </p:txBody>
      </p:sp>
      <p:sp>
        <p:nvSpPr>
          <p:cNvPr id="295" name="Google Shape;295;p41"/>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pic>
        <p:nvPicPr>
          <p:cNvPr id="296" name="Google Shape;296;p41"/>
          <p:cNvPicPr preferRelativeResize="0"/>
          <p:nvPr/>
        </p:nvPicPr>
        <p:blipFill>
          <a:blip r:embed="rId3">
            <a:alphaModFix/>
          </a:blip>
          <a:stretch>
            <a:fillRect/>
          </a:stretch>
        </p:blipFill>
        <p:spPr>
          <a:xfrm>
            <a:off x="200525" y="4417322"/>
            <a:ext cx="2220650" cy="650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2"/>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302" name="Google Shape;302;p42"/>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303" name="Google Shape;303;p42"/>
          <p:cNvPicPr preferRelativeResize="0"/>
          <p:nvPr/>
        </p:nvPicPr>
        <p:blipFill>
          <a:blip r:embed="rId3">
            <a:alphaModFix/>
          </a:blip>
          <a:stretch>
            <a:fillRect/>
          </a:stretch>
        </p:blipFill>
        <p:spPr>
          <a:xfrm>
            <a:off x="0" y="0"/>
            <a:ext cx="9144000" cy="5143500"/>
          </a:xfrm>
          <a:prstGeom prst="rect">
            <a:avLst/>
          </a:prstGeom>
          <a:noFill/>
          <a:ln>
            <a:noFill/>
          </a:ln>
        </p:spPr>
      </p:pic>
      <p:sp>
        <p:nvSpPr>
          <p:cNvPr id="304" name="Google Shape;304;p42"/>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 </a:t>
            </a:r>
            <a:endParaRPr/>
          </a:p>
        </p:txBody>
      </p:sp>
      <p:sp>
        <p:nvSpPr>
          <p:cNvPr id="305" name="Google Shape;305;p42"/>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3"/>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311" name="Google Shape;311;p43"/>
          <p:cNvSpPr/>
          <p:nvPr/>
        </p:nvSpPr>
        <p:spPr>
          <a:xfrm>
            <a:off x="0" y="4109025"/>
            <a:ext cx="9144000" cy="10296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12" name="Google Shape;312;p43"/>
          <p:cNvPicPr preferRelativeResize="0"/>
          <p:nvPr/>
        </p:nvPicPr>
        <p:blipFill>
          <a:blip r:embed="rId3">
            <a:alphaModFix/>
          </a:blip>
          <a:stretch>
            <a:fillRect/>
          </a:stretch>
        </p:blipFill>
        <p:spPr>
          <a:xfrm>
            <a:off x="200525" y="4417322"/>
            <a:ext cx="2220650" cy="650000"/>
          </a:xfrm>
          <a:prstGeom prst="rect">
            <a:avLst/>
          </a:prstGeom>
          <a:noFill/>
          <a:ln>
            <a:noFill/>
          </a:ln>
        </p:spPr>
      </p:pic>
      <p:pic>
        <p:nvPicPr>
          <p:cNvPr id="313" name="Google Shape;313;p43" title="Screenshot from 2026-07-20 15-40-28.png"/>
          <p:cNvPicPr preferRelativeResize="0"/>
          <p:nvPr/>
        </p:nvPicPr>
        <p:blipFill rotWithShape="1">
          <a:blip r:embed="rId4">
            <a:alphaModFix/>
          </a:blip>
          <a:srcRect b="9930" l="675" r="0" t="10178"/>
          <a:stretch/>
        </p:blipFill>
        <p:spPr>
          <a:xfrm>
            <a:off x="0" y="0"/>
            <a:ext cx="9082402" cy="4109025"/>
          </a:xfrm>
          <a:prstGeom prst="rect">
            <a:avLst/>
          </a:prstGeom>
          <a:noFill/>
          <a:ln>
            <a:noFill/>
          </a:ln>
        </p:spPr>
      </p:pic>
      <p:sp>
        <p:nvSpPr>
          <p:cNvPr id="314" name="Google Shape;314;p43"/>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4"/>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t/>
            </a:r>
            <a:endParaRPr/>
          </a:p>
        </p:txBody>
      </p:sp>
      <p:sp>
        <p:nvSpPr>
          <p:cNvPr id="320" name="Google Shape;320;p44"/>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p:txBody>
      </p:sp>
      <p:pic>
        <p:nvPicPr>
          <p:cNvPr id="321" name="Google Shape;321;p44"/>
          <p:cNvPicPr preferRelativeResize="0"/>
          <p:nvPr/>
        </p:nvPicPr>
        <p:blipFill>
          <a:blip r:embed="rId3">
            <a:alphaModFix/>
          </a:blip>
          <a:stretch>
            <a:fillRect/>
          </a:stretch>
        </p:blipFill>
        <p:spPr>
          <a:xfrm>
            <a:off x="0" y="0"/>
            <a:ext cx="9144000" cy="5143500"/>
          </a:xfrm>
          <a:prstGeom prst="rect">
            <a:avLst/>
          </a:prstGeom>
          <a:noFill/>
          <a:ln>
            <a:noFill/>
          </a:ln>
        </p:spPr>
      </p:pic>
      <p:sp>
        <p:nvSpPr>
          <p:cNvPr id="322" name="Google Shape;322;p44"/>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Times New Roman"/>
                <a:ea typeface="Times New Roman"/>
                <a:cs typeface="Times New Roman"/>
                <a:sym typeface="Times New Roman"/>
              </a:rPr>
              <a:t> </a:t>
            </a:r>
            <a:endParaRPr/>
          </a:p>
        </p:txBody>
      </p:sp>
      <p:sp>
        <p:nvSpPr>
          <p:cNvPr id="323" name="Google Shape;323;p44"/>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5"/>
          <p:cNvSpPr txBox="1"/>
          <p:nvPr>
            <p:ph type="title"/>
          </p:nvPr>
        </p:nvSpPr>
        <p:spPr>
          <a:xfrm>
            <a:off x="2553925" y="15352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Challenges</a:t>
            </a:r>
            <a:endParaRPr>
              <a:solidFill>
                <a:srgbClr val="3D85C6"/>
              </a:solidFill>
            </a:endParaRPr>
          </a:p>
        </p:txBody>
      </p:sp>
      <p:sp>
        <p:nvSpPr>
          <p:cNvPr id="329" name="Google Shape;329;p45"/>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330" name="Google Shape;330;p45"/>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331" name="Google Shape;331;p45"/>
          <p:cNvSpPr txBox="1"/>
          <p:nvPr/>
        </p:nvSpPr>
        <p:spPr>
          <a:xfrm>
            <a:off x="2856800" y="1174675"/>
            <a:ext cx="6156300" cy="12315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Calibri"/>
              <a:buChar char="●"/>
            </a:pPr>
            <a:r>
              <a:rPr lang="en" sz="1700">
                <a:latin typeface="Calibri"/>
                <a:ea typeface="Calibri"/>
                <a:cs typeface="Calibri"/>
                <a:sym typeface="Calibri"/>
              </a:rPr>
              <a:t>Challenges:</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b="1" lang="en" sz="1700">
                <a:latin typeface="Calibri"/>
                <a:ea typeface="Calibri"/>
                <a:cs typeface="Calibri"/>
                <a:sym typeface="Calibri"/>
              </a:rPr>
              <a:t>Hardware + University limitations leading to unusual setups</a:t>
            </a:r>
            <a:endParaRPr b="1"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Learning EVERY switch interface</a:t>
            </a:r>
            <a:r>
              <a:rPr lang="en" sz="1700">
                <a:latin typeface="Calibri"/>
                <a:ea typeface="Calibri"/>
                <a:cs typeface="Calibri"/>
                <a:sym typeface="Calibri"/>
              </a:rPr>
              <a:t> </a:t>
            </a:r>
            <a:endParaRPr sz="1700">
              <a:latin typeface="Calibri"/>
              <a:ea typeface="Calibri"/>
              <a:cs typeface="Calibri"/>
              <a:sym typeface="Calibri"/>
            </a:endParaRPr>
          </a:p>
        </p:txBody>
      </p:sp>
      <p:sp>
        <p:nvSpPr>
          <p:cNvPr id="332" name="Google Shape;332;p45"/>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33" name="Google Shape;333;p45"/>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334" name="Google Shape;334;p45"/>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335" name="Google Shape;335;p45"/>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46" title="ConfigFinalPTGWires.jpeg"/>
          <p:cNvPicPr preferRelativeResize="0"/>
          <p:nvPr/>
        </p:nvPicPr>
        <p:blipFill>
          <a:blip r:embed="rId3">
            <a:alphaModFix/>
          </a:blip>
          <a:stretch>
            <a:fillRect/>
          </a:stretch>
        </p:blipFill>
        <p:spPr>
          <a:xfrm>
            <a:off x="-885475" y="0"/>
            <a:ext cx="4967624" cy="5143500"/>
          </a:xfrm>
          <a:prstGeom prst="rect">
            <a:avLst/>
          </a:prstGeom>
          <a:noFill/>
          <a:ln>
            <a:noFill/>
          </a:ln>
        </p:spPr>
      </p:pic>
      <p:pic>
        <p:nvPicPr>
          <p:cNvPr id="341" name="Google Shape;341;p46" title="6.26 Final PTG Diagram Option 2.png"/>
          <p:cNvPicPr preferRelativeResize="0"/>
          <p:nvPr/>
        </p:nvPicPr>
        <p:blipFill>
          <a:blip r:embed="rId4">
            <a:alphaModFix/>
          </a:blip>
          <a:stretch>
            <a:fillRect/>
          </a:stretch>
        </p:blipFill>
        <p:spPr>
          <a:xfrm>
            <a:off x="4572000" y="0"/>
            <a:ext cx="4598502" cy="4897101"/>
          </a:xfrm>
          <a:prstGeom prst="rect">
            <a:avLst/>
          </a:prstGeom>
          <a:noFill/>
          <a:ln>
            <a:noFill/>
          </a:ln>
        </p:spPr>
      </p:pic>
      <p:sp>
        <p:nvSpPr>
          <p:cNvPr id="342" name="Google Shape;342;p46"/>
          <p:cNvSpPr/>
          <p:nvPr/>
        </p:nvSpPr>
        <p:spPr>
          <a:xfrm>
            <a:off x="4034750" y="2155950"/>
            <a:ext cx="739200" cy="7392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43" name="Google Shape;343;p46"/>
          <p:cNvPicPr preferRelativeResize="0"/>
          <p:nvPr/>
        </p:nvPicPr>
        <p:blipFill>
          <a:blip r:embed="rId5">
            <a:alphaModFix/>
          </a:blip>
          <a:stretch>
            <a:fillRect/>
          </a:stretch>
        </p:blipFill>
        <p:spPr>
          <a:xfrm>
            <a:off x="0" y="4493497"/>
            <a:ext cx="2220650" cy="650000"/>
          </a:xfrm>
          <a:prstGeom prst="rect">
            <a:avLst/>
          </a:prstGeom>
          <a:noFill/>
          <a:ln>
            <a:noFill/>
          </a:ln>
        </p:spPr>
      </p:pic>
      <p:sp>
        <p:nvSpPr>
          <p:cNvPr id="344" name="Google Shape;344;p46"/>
          <p:cNvSpPr txBox="1"/>
          <p:nvPr/>
        </p:nvSpPr>
        <p:spPr>
          <a:xfrm>
            <a:off x="1869358" y="475273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7"/>
          <p:cNvSpPr txBox="1"/>
          <p:nvPr>
            <p:ph type="title"/>
          </p:nvPr>
        </p:nvSpPr>
        <p:spPr>
          <a:xfrm>
            <a:off x="2553925" y="15352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Challenges</a:t>
            </a:r>
            <a:endParaRPr>
              <a:solidFill>
                <a:srgbClr val="3D85C6"/>
              </a:solidFill>
            </a:endParaRPr>
          </a:p>
        </p:txBody>
      </p:sp>
      <p:sp>
        <p:nvSpPr>
          <p:cNvPr id="350" name="Google Shape;350;p47"/>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351" name="Google Shape;351;p47"/>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352" name="Google Shape;352;p47"/>
          <p:cNvSpPr txBox="1"/>
          <p:nvPr/>
        </p:nvSpPr>
        <p:spPr>
          <a:xfrm>
            <a:off x="2794075" y="1143875"/>
            <a:ext cx="6156300" cy="12315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Calibri"/>
              <a:buChar char="●"/>
            </a:pPr>
            <a:r>
              <a:rPr lang="en" sz="1700">
                <a:latin typeface="Calibri"/>
                <a:ea typeface="Calibri"/>
                <a:cs typeface="Calibri"/>
                <a:sym typeface="Calibri"/>
              </a:rPr>
              <a:t>Challenges:</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Hardware + University limitations leading to unusual setups</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b="1" lang="en" sz="1700">
                <a:latin typeface="Calibri"/>
                <a:ea typeface="Calibri"/>
                <a:cs typeface="Calibri"/>
                <a:sym typeface="Calibri"/>
              </a:rPr>
              <a:t>Learning EVERY switch/router interface</a:t>
            </a:r>
            <a:endParaRPr b="1" sz="1700">
              <a:latin typeface="Calibri"/>
              <a:ea typeface="Calibri"/>
              <a:cs typeface="Calibri"/>
              <a:sym typeface="Calibri"/>
            </a:endParaRPr>
          </a:p>
        </p:txBody>
      </p:sp>
      <p:sp>
        <p:nvSpPr>
          <p:cNvPr id="353" name="Google Shape;353;p47"/>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54" name="Google Shape;354;p47"/>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355" name="Google Shape;355;p47"/>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356" name="Google Shape;356;p47"/>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8"/>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62" name="Google Shape;362;p48"/>
          <p:cNvPicPr preferRelativeResize="0"/>
          <p:nvPr/>
        </p:nvPicPr>
        <p:blipFill>
          <a:blip r:embed="rId3">
            <a:alphaModFix/>
          </a:blip>
          <a:stretch>
            <a:fillRect/>
          </a:stretch>
        </p:blipFill>
        <p:spPr>
          <a:xfrm>
            <a:off x="200525" y="4417322"/>
            <a:ext cx="2220650" cy="650000"/>
          </a:xfrm>
          <a:prstGeom prst="rect">
            <a:avLst/>
          </a:prstGeom>
          <a:noFill/>
          <a:ln>
            <a:noFill/>
          </a:ln>
        </p:spPr>
      </p:pic>
      <p:sp>
        <p:nvSpPr>
          <p:cNvPr id="363" name="Google Shape;363;p48"/>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pic>
        <p:nvPicPr>
          <p:cNvPr id="364" name="Google Shape;364;p48" title="RouterInterface.png"/>
          <p:cNvPicPr preferRelativeResize="0"/>
          <p:nvPr/>
        </p:nvPicPr>
        <p:blipFill>
          <a:blip r:embed="rId4">
            <a:alphaModFix/>
          </a:blip>
          <a:stretch>
            <a:fillRect/>
          </a:stretch>
        </p:blipFill>
        <p:spPr>
          <a:xfrm>
            <a:off x="2795600" y="823075"/>
            <a:ext cx="6217502" cy="3497345"/>
          </a:xfrm>
          <a:prstGeom prst="rect">
            <a:avLst/>
          </a:prstGeom>
          <a:noFill/>
          <a:ln>
            <a:noFill/>
          </a:ln>
        </p:spPr>
      </p:pic>
      <p:pic>
        <p:nvPicPr>
          <p:cNvPr id="365" name="Google Shape;365;p48" title="NetgearPortIDPic.png"/>
          <p:cNvPicPr preferRelativeResize="0"/>
          <p:nvPr/>
        </p:nvPicPr>
        <p:blipFill rotWithShape="1">
          <a:blip r:embed="rId5">
            <a:alphaModFix/>
          </a:blip>
          <a:srcRect b="47559" l="0" r="56315" t="0"/>
          <a:stretch/>
        </p:blipFill>
        <p:spPr>
          <a:xfrm>
            <a:off x="5083625" y="-4875"/>
            <a:ext cx="3994526" cy="2697324"/>
          </a:xfrm>
          <a:prstGeom prst="rect">
            <a:avLst/>
          </a:prstGeom>
          <a:noFill/>
          <a:ln>
            <a:noFill/>
          </a:ln>
        </p:spPr>
      </p:pic>
      <p:pic>
        <p:nvPicPr>
          <p:cNvPr id="366" name="Google Shape;366;p48" title="NetgearSwitchInterface.png"/>
          <p:cNvPicPr preferRelativeResize="0"/>
          <p:nvPr/>
        </p:nvPicPr>
        <p:blipFill rotWithShape="1">
          <a:blip r:embed="rId6">
            <a:alphaModFix/>
          </a:blip>
          <a:srcRect b="33963" l="0" r="43855" t="0"/>
          <a:stretch/>
        </p:blipFill>
        <p:spPr>
          <a:xfrm>
            <a:off x="4678625" y="2424492"/>
            <a:ext cx="3994526" cy="2642833"/>
          </a:xfrm>
          <a:prstGeom prst="rect">
            <a:avLst/>
          </a:prstGeom>
          <a:noFill/>
          <a:ln>
            <a:noFill/>
          </a:ln>
        </p:spPr>
      </p:pic>
      <p:pic>
        <p:nvPicPr>
          <p:cNvPr id="367" name="Google Shape;367;p48" title="NetgearMainInterfacePic.png"/>
          <p:cNvPicPr preferRelativeResize="0"/>
          <p:nvPr/>
        </p:nvPicPr>
        <p:blipFill rotWithShape="1">
          <a:blip r:embed="rId7">
            <a:alphaModFix/>
          </a:blip>
          <a:srcRect b="25015" l="0" r="52160" t="0"/>
          <a:stretch/>
        </p:blipFill>
        <p:spPr>
          <a:xfrm>
            <a:off x="0" y="0"/>
            <a:ext cx="4374552" cy="3856926"/>
          </a:xfrm>
          <a:prstGeom prst="rect">
            <a:avLst/>
          </a:prstGeom>
          <a:noFill/>
          <a:ln>
            <a:noFill/>
          </a:ln>
        </p:spPr>
      </p:pic>
      <p:pic>
        <p:nvPicPr>
          <p:cNvPr id="368" name="Google Shape;368;p48" title="MokerlinkInterface2.png"/>
          <p:cNvPicPr preferRelativeResize="0"/>
          <p:nvPr/>
        </p:nvPicPr>
        <p:blipFill>
          <a:blip r:embed="rId8">
            <a:alphaModFix/>
          </a:blip>
          <a:stretch>
            <a:fillRect/>
          </a:stretch>
        </p:blipFill>
        <p:spPr>
          <a:xfrm>
            <a:off x="0" y="1571150"/>
            <a:ext cx="6531427" cy="3673925"/>
          </a:xfrm>
          <a:prstGeom prst="rect">
            <a:avLst/>
          </a:prstGeom>
          <a:noFill/>
          <a:ln>
            <a:noFill/>
          </a:ln>
        </p:spPr>
      </p:pic>
      <p:pic>
        <p:nvPicPr>
          <p:cNvPr id="369" name="Google Shape;369;p48" title="MokerlinkInterface1.png"/>
          <p:cNvPicPr preferRelativeResize="0"/>
          <p:nvPr/>
        </p:nvPicPr>
        <p:blipFill rotWithShape="1">
          <a:blip r:embed="rId9">
            <a:alphaModFix/>
          </a:blip>
          <a:srcRect b="50000" l="20930" r="21426" t="0"/>
          <a:stretch/>
        </p:blipFill>
        <p:spPr>
          <a:xfrm>
            <a:off x="3742374" y="-4875"/>
            <a:ext cx="5270726" cy="2571750"/>
          </a:xfrm>
          <a:prstGeom prst="rect">
            <a:avLst/>
          </a:prstGeom>
          <a:noFill/>
          <a:ln>
            <a:noFill/>
          </a:ln>
        </p:spPr>
      </p:pic>
      <p:pic>
        <p:nvPicPr>
          <p:cNvPr id="370" name="Google Shape;370;p48" title="FSCOMInterface1.png"/>
          <p:cNvPicPr preferRelativeResize="0"/>
          <p:nvPr/>
        </p:nvPicPr>
        <p:blipFill>
          <a:blip r:embed="rId10">
            <a:alphaModFix/>
          </a:blip>
          <a:stretch>
            <a:fillRect/>
          </a:stretch>
        </p:blipFill>
        <p:spPr>
          <a:xfrm>
            <a:off x="0" y="-4875"/>
            <a:ext cx="4571990" cy="2571750"/>
          </a:xfrm>
          <a:prstGeom prst="rect">
            <a:avLst/>
          </a:prstGeom>
          <a:noFill/>
          <a:ln>
            <a:noFill/>
          </a:ln>
        </p:spPr>
      </p:pic>
      <p:pic>
        <p:nvPicPr>
          <p:cNvPr id="371" name="Google Shape;371;p48" title="FSCOMInterface2.png"/>
          <p:cNvPicPr preferRelativeResize="0"/>
          <p:nvPr/>
        </p:nvPicPr>
        <p:blipFill>
          <a:blip r:embed="rId11">
            <a:alphaModFix/>
          </a:blip>
          <a:stretch>
            <a:fillRect/>
          </a:stretch>
        </p:blipFill>
        <p:spPr>
          <a:xfrm>
            <a:off x="3560100" y="2177775"/>
            <a:ext cx="5453002" cy="3067300"/>
          </a:xfrm>
          <a:prstGeom prst="rect">
            <a:avLst/>
          </a:prstGeom>
          <a:noFill/>
          <a:ln>
            <a:noFill/>
          </a:ln>
        </p:spPr>
      </p:pic>
      <p:pic>
        <p:nvPicPr>
          <p:cNvPr id="372" name="Google Shape;372;p48" title="FSCOMInterface3.png"/>
          <p:cNvPicPr preferRelativeResize="0"/>
          <p:nvPr/>
        </p:nvPicPr>
        <p:blipFill>
          <a:blip r:embed="rId12">
            <a:alphaModFix/>
          </a:blip>
          <a:stretch>
            <a:fillRect/>
          </a:stretch>
        </p:blipFill>
        <p:spPr>
          <a:xfrm>
            <a:off x="3162450" y="-4875"/>
            <a:ext cx="5981549" cy="33646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9"/>
          <p:cNvSpPr txBox="1"/>
          <p:nvPr>
            <p:ph type="title"/>
          </p:nvPr>
        </p:nvSpPr>
        <p:spPr>
          <a:xfrm>
            <a:off x="2553925" y="15352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Lessons Learned </a:t>
            </a:r>
            <a:endParaRPr>
              <a:solidFill>
                <a:srgbClr val="3D85C6"/>
              </a:solidFill>
            </a:endParaRPr>
          </a:p>
        </p:txBody>
      </p:sp>
      <p:sp>
        <p:nvSpPr>
          <p:cNvPr id="378" name="Google Shape;378;p49"/>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379" name="Google Shape;379;p49"/>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380" name="Google Shape;380;p49"/>
          <p:cNvSpPr txBox="1"/>
          <p:nvPr/>
        </p:nvSpPr>
        <p:spPr>
          <a:xfrm>
            <a:off x="2794075" y="1136175"/>
            <a:ext cx="6156300" cy="12315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Calibri"/>
              <a:buChar char="●"/>
            </a:pPr>
            <a:r>
              <a:rPr lang="en" sz="1700">
                <a:latin typeface="Calibri"/>
                <a:ea typeface="Calibri"/>
                <a:cs typeface="Calibri"/>
                <a:sym typeface="Calibri"/>
              </a:rPr>
              <a:t>Advice for picking up where I left off</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b="1" lang="en" sz="1700">
                <a:latin typeface="Calibri"/>
                <a:ea typeface="Calibri"/>
                <a:cs typeface="Calibri"/>
                <a:sym typeface="Calibri"/>
              </a:rPr>
              <a:t>Understanding, not memorization</a:t>
            </a:r>
            <a:endParaRPr b="1"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Diagrams!!!</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Backups, snapshots, documentation</a:t>
            </a:r>
            <a:endParaRPr sz="1700">
              <a:latin typeface="Calibri"/>
              <a:ea typeface="Calibri"/>
              <a:cs typeface="Calibri"/>
              <a:sym typeface="Calibri"/>
            </a:endParaRPr>
          </a:p>
        </p:txBody>
      </p:sp>
      <p:sp>
        <p:nvSpPr>
          <p:cNvPr id="381" name="Google Shape;381;p49"/>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82" name="Google Shape;382;p49"/>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383" name="Google Shape;383;p49"/>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384" name="Google Shape;384;p49"/>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0"/>
          <p:cNvSpPr txBox="1"/>
          <p:nvPr>
            <p:ph type="title"/>
          </p:nvPr>
        </p:nvSpPr>
        <p:spPr>
          <a:xfrm>
            <a:off x="2553925" y="15352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Lessons Learned </a:t>
            </a:r>
            <a:endParaRPr>
              <a:solidFill>
                <a:srgbClr val="3D85C6"/>
              </a:solidFill>
            </a:endParaRPr>
          </a:p>
        </p:txBody>
      </p:sp>
      <p:sp>
        <p:nvSpPr>
          <p:cNvPr id="390" name="Google Shape;390;p50"/>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391" name="Google Shape;391;p50"/>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392" name="Google Shape;392;p50"/>
          <p:cNvSpPr txBox="1"/>
          <p:nvPr/>
        </p:nvSpPr>
        <p:spPr>
          <a:xfrm>
            <a:off x="2794075" y="1143875"/>
            <a:ext cx="6156300" cy="12315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Calibri"/>
              <a:buChar char="●"/>
            </a:pPr>
            <a:r>
              <a:rPr lang="en" sz="1700">
                <a:latin typeface="Calibri"/>
                <a:ea typeface="Calibri"/>
                <a:cs typeface="Calibri"/>
                <a:sym typeface="Calibri"/>
              </a:rPr>
              <a:t>Advice for picking up where I left off</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Understanding, not memorization</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b="1" lang="en" sz="1700">
                <a:latin typeface="Calibri"/>
                <a:ea typeface="Calibri"/>
                <a:cs typeface="Calibri"/>
                <a:sym typeface="Calibri"/>
              </a:rPr>
              <a:t>Diagrams!!!</a:t>
            </a:r>
            <a:endParaRPr b="1"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Backups, snapshots, documentation</a:t>
            </a:r>
            <a:endParaRPr sz="1700">
              <a:latin typeface="Calibri"/>
              <a:ea typeface="Calibri"/>
              <a:cs typeface="Calibri"/>
              <a:sym typeface="Calibri"/>
            </a:endParaRPr>
          </a:p>
        </p:txBody>
      </p:sp>
      <p:sp>
        <p:nvSpPr>
          <p:cNvPr id="393" name="Google Shape;393;p50"/>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394" name="Google Shape;394;p50"/>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395" name="Google Shape;395;p50"/>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396" name="Google Shape;396;p50"/>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1"/>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402" name="Google Shape;402;p51"/>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403" name="Google Shape;403;p51"/>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404" name="Google Shape;404;p51"/>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405" name="Google Shape;405;p51"/>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406" name="Google Shape;406;p51"/>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pic>
        <p:nvPicPr>
          <p:cNvPr id="407" name="Google Shape;407;p51" title="Super rough Training Ground Example Diagram.png"/>
          <p:cNvPicPr preferRelativeResize="0"/>
          <p:nvPr/>
        </p:nvPicPr>
        <p:blipFill>
          <a:blip r:embed="rId4">
            <a:alphaModFix/>
          </a:blip>
          <a:stretch>
            <a:fillRect/>
          </a:stretch>
        </p:blipFill>
        <p:spPr>
          <a:xfrm>
            <a:off x="2713750" y="817951"/>
            <a:ext cx="3397450" cy="3354401"/>
          </a:xfrm>
          <a:prstGeom prst="rect">
            <a:avLst/>
          </a:prstGeom>
          <a:noFill/>
          <a:ln>
            <a:noFill/>
          </a:ln>
        </p:spPr>
      </p:pic>
      <p:pic>
        <p:nvPicPr>
          <p:cNvPr id="408" name="Google Shape;408;p51" title="6.26 Final PTG Diagram Option 2.png"/>
          <p:cNvPicPr preferRelativeResize="0"/>
          <p:nvPr/>
        </p:nvPicPr>
        <p:blipFill>
          <a:blip r:embed="rId5">
            <a:alphaModFix/>
          </a:blip>
          <a:stretch>
            <a:fillRect/>
          </a:stretch>
        </p:blipFill>
        <p:spPr>
          <a:xfrm>
            <a:off x="6111200" y="877775"/>
            <a:ext cx="3032800" cy="322972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2"/>
          <p:cNvSpPr txBox="1"/>
          <p:nvPr>
            <p:ph type="title"/>
          </p:nvPr>
        </p:nvSpPr>
        <p:spPr>
          <a:xfrm>
            <a:off x="2553925" y="15352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Lessons Learned </a:t>
            </a:r>
            <a:endParaRPr>
              <a:solidFill>
                <a:srgbClr val="3D85C6"/>
              </a:solidFill>
            </a:endParaRPr>
          </a:p>
        </p:txBody>
      </p:sp>
      <p:sp>
        <p:nvSpPr>
          <p:cNvPr id="414" name="Google Shape;414;p52"/>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415" name="Google Shape;415;p52"/>
          <p:cNvPicPr preferRelativeResize="0"/>
          <p:nvPr/>
        </p:nvPicPr>
        <p:blipFill>
          <a:blip r:embed="rId4">
            <a:alphaModFix/>
          </a:blip>
          <a:stretch>
            <a:fillRect/>
          </a:stretch>
        </p:blipFill>
        <p:spPr>
          <a:xfrm>
            <a:off x="339650" y="4458043"/>
            <a:ext cx="1942401" cy="568550"/>
          </a:xfrm>
          <a:prstGeom prst="rect">
            <a:avLst/>
          </a:prstGeom>
          <a:noFill/>
          <a:ln>
            <a:noFill/>
          </a:ln>
        </p:spPr>
      </p:pic>
      <p:sp>
        <p:nvSpPr>
          <p:cNvPr id="416" name="Google Shape;416;p52"/>
          <p:cNvSpPr txBox="1"/>
          <p:nvPr/>
        </p:nvSpPr>
        <p:spPr>
          <a:xfrm>
            <a:off x="2794075" y="1267075"/>
            <a:ext cx="6156300" cy="12315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Calibri"/>
              <a:buChar char="●"/>
            </a:pPr>
            <a:r>
              <a:rPr lang="en" sz="1700">
                <a:latin typeface="Calibri"/>
                <a:ea typeface="Calibri"/>
                <a:cs typeface="Calibri"/>
                <a:sym typeface="Calibri"/>
              </a:rPr>
              <a:t>Advice for picking up where I left off</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Understanding, not memorization</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Diagra</a:t>
            </a:r>
            <a:r>
              <a:rPr lang="en" sz="1700">
                <a:latin typeface="Calibri"/>
                <a:ea typeface="Calibri"/>
                <a:cs typeface="Calibri"/>
                <a:sym typeface="Calibri"/>
              </a:rPr>
              <a:t>ms!!!</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b="1" lang="en" sz="1700">
                <a:latin typeface="Calibri"/>
                <a:ea typeface="Calibri"/>
                <a:cs typeface="Calibri"/>
                <a:sym typeface="Calibri"/>
              </a:rPr>
              <a:t>Backup</a:t>
            </a:r>
            <a:r>
              <a:rPr b="1" lang="en" sz="1700">
                <a:latin typeface="Calibri"/>
                <a:ea typeface="Calibri"/>
                <a:cs typeface="Calibri"/>
                <a:sym typeface="Calibri"/>
              </a:rPr>
              <a:t>s,</a:t>
            </a:r>
            <a:r>
              <a:rPr b="1" lang="en" sz="1700">
                <a:latin typeface="Calibri"/>
                <a:ea typeface="Calibri"/>
                <a:cs typeface="Calibri"/>
                <a:sym typeface="Calibri"/>
              </a:rPr>
              <a:t> documentation</a:t>
            </a:r>
            <a:endParaRPr b="1" sz="1700">
              <a:latin typeface="Calibri"/>
              <a:ea typeface="Calibri"/>
              <a:cs typeface="Calibri"/>
              <a:sym typeface="Calibri"/>
            </a:endParaRPr>
          </a:p>
        </p:txBody>
      </p:sp>
      <p:sp>
        <p:nvSpPr>
          <p:cNvPr id="417" name="Google Shape;417;p52"/>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418" name="Google Shape;418;p52"/>
          <p:cNvPicPr preferRelativeResize="0"/>
          <p:nvPr/>
        </p:nvPicPr>
        <p:blipFill>
          <a:blip r:embed="rId4">
            <a:alphaModFix/>
          </a:blip>
          <a:stretch>
            <a:fillRect/>
          </a:stretch>
        </p:blipFill>
        <p:spPr>
          <a:xfrm>
            <a:off x="200525" y="4417322"/>
            <a:ext cx="2220650" cy="650000"/>
          </a:xfrm>
          <a:prstGeom prst="rect">
            <a:avLst/>
          </a:prstGeom>
          <a:noFill/>
          <a:ln>
            <a:noFill/>
          </a:ln>
        </p:spPr>
      </p:pic>
      <p:cxnSp>
        <p:nvCxnSpPr>
          <p:cNvPr id="419" name="Google Shape;419;p52"/>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420" name="Google Shape;420;p52"/>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pic>
        <p:nvPicPr>
          <p:cNvPr id="421" name="Google Shape;421;p52" title="Screenshot from 2026-07-22 11-20-41.png"/>
          <p:cNvPicPr preferRelativeResize="0"/>
          <p:nvPr/>
        </p:nvPicPr>
        <p:blipFill rotWithShape="1">
          <a:blip r:embed="rId5">
            <a:alphaModFix/>
          </a:blip>
          <a:srcRect b="54345" l="15916" r="47961" t="14667"/>
          <a:stretch/>
        </p:blipFill>
        <p:spPr>
          <a:xfrm>
            <a:off x="2654613" y="2748825"/>
            <a:ext cx="4021325" cy="1940374"/>
          </a:xfrm>
          <a:prstGeom prst="rect">
            <a:avLst/>
          </a:prstGeom>
          <a:noFill/>
          <a:ln>
            <a:noFill/>
          </a:ln>
        </p:spPr>
      </p:pic>
      <p:pic>
        <p:nvPicPr>
          <p:cNvPr id="422" name="Google Shape;422;p52" title="Screenshot from 2026-07-22 11-22-32.png"/>
          <p:cNvPicPr preferRelativeResize="0"/>
          <p:nvPr/>
        </p:nvPicPr>
        <p:blipFill rotWithShape="1">
          <a:blip r:embed="rId6">
            <a:alphaModFix/>
          </a:blip>
          <a:srcRect b="17515" l="3281" r="19331" t="4189"/>
          <a:stretch/>
        </p:blipFill>
        <p:spPr>
          <a:xfrm>
            <a:off x="5809063" y="2785400"/>
            <a:ext cx="3281040" cy="18672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3"/>
          <p:cNvSpPr txBox="1"/>
          <p:nvPr>
            <p:ph type="title"/>
          </p:nvPr>
        </p:nvSpPr>
        <p:spPr>
          <a:xfrm>
            <a:off x="2553925" y="15352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Limitations</a:t>
            </a:r>
            <a:endParaRPr>
              <a:solidFill>
                <a:srgbClr val="3D85C6"/>
              </a:solidFill>
            </a:endParaRPr>
          </a:p>
        </p:txBody>
      </p:sp>
      <p:sp>
        <p:nvSpPr>
          <p:cNvPr id="428" name="Google Shape;428;p53"/>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429" name="Google Shape;429;p53"/>
          <p:cNvPicPr preferRelativeResize="0"/>
          <p:nvPr/>
        </p:nvPicPr>
        <p:blipFill>
          <a:blip r:embed="rId4">
            <a:alphaModFix/>
          </a:blip>
          <a:stretch>
            <a:fillRect/>
          </a:stretch>
        </p:blipFill>
        <p:spPr>
          <a:xfrm>
            <a:off x="339650" y="4458043"/>
            <a:ext cx="1942401" cy="568550"/>
          </a:xfrm>
          <a:prstGeom prst="rect">
            <a:avLst/>
          </a:prstGeom>
          <a:noFill/>
          <a:ln>
            <a:noFill/>
          </a:ln>
        </p:spPr>
      </p:pic>
      <p:sp>
        <p:nvSpPr>
          <p:cNvPr id="430" name="Google Shape;430;p53"/>
          <p:cNvSpPr txBox="1"/>
          <p:nvPr/>
        </p:nvSpPr>
        <p:spPr>
          <a:xfrm>
            <a:off x="2840475" y="1359475"/>
            <a:ext cx="6156300" cy="12315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Amazing mentor gone for 2 weeks straight, + Dr. Checkups</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Velocity vs. struggle-learning</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Hardware: unideal configurations</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Few testers</a:t>
            </a:r>
            <a:endParaRPr sz="1700">
              <a:latin typeface="Calibri"/>
              <a:ea typeface="Calibri"/>
              <a:cs typeface="Calibri"/>
              <a:sym typeface="Calibri"/>
            </a:endParaRPr>
          </a:p>
        </p:txBody>
      </p:sp>
      <p:sp>
        <p:nvSpPr>
          <p:cNvPr id="431" name="Google Shape;431;p53"/>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432" name="Google Shape;432;p53"/>
          <p:cNvPicPr preferRelativeResize="0"/>
          <p:nvPr/>
        </p:nvPicPr>
        <p:blipFill>
          <a:blip r:embed="rId4">
            <a:alphaModFix/>
          </a:blip>
          <a:stretch>
            <a:fillRect/>
          </a:stretch>
        </p:blipFill>
        <p:spPr>
          <a:xfrm>
            <a:off x="200525" y="4417322"/>
            <a:ext cx="2220650" cy="650000"/>
          </a:xfrm>
          <a:prstGeom prst="rect">
            <a:avLst/>
          </a:prstGeom>
          <a:noFill/>
          <a:ln>
            <a:noFill/>
          </a:ln>
        </p:spPr>
      </p:pic>
      <p:cxnSp>
        <p:nvCxnSpPr>
          <p:cNvPr id="433" name="Google Shape;433;p53"/>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434" name="Google Shape;434;p53"/>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
        <p:nvSpPr>
          <p:cNvPr id="435" name="Google Shape;435;p53"/>
          <p:cNvSpPr/>
          <p:nvPr/>
        </p:nvSpPr>
        <p:spPr>
          <a:xfrm>
            <a:off x="8662525" y="1431625"/>
            <a:ext cx="528000" cy="1363500"/>
          </a:xfrm>
          <a:prstGeom prst="downArrow">
            <a:avLst>
              <a:gd fmla="val 50000" name="adj1"/>
              <a:gd fmla="val 50000" name="adj2"/>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4"/>
          <p:cNvSpPr txBox="1"/>
          <p:nvPr>
            <p:ph type="title"/>
          </p:nvPr>
        </p:nvSpPr>
        <p:spPr>
          <a:xfrm>
            <a:off x="2553925" y="15352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Implications</a:t>
            </a:r>
            <a:endParaRPr>
              <a:solidFill>
                <a:srgbClr val="3D85C6"/>
              </a:solidFill>
            </a:endParaRPr>
          </a:p>
        </p:txBody>
      </p:sp>
      <p:sp>
        <p:nvSpPr>
          <p:cNvPr id="441" name="Google Shape;441;p54"/>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442" name="Google Shape;442;p54"/>
          <p:cNvPicPr preferRelativeResize="0"/>
          <p:nvPr/>
        </p:nvPicPr>
        <p:blipFill>
          <a:blip r:embed="rId4">
            <a:alphaModFix/>
          </a:blip>
          <a:stretch>
            <a:fillRect/>
          </a:stretch>
        </p:blipFill>
        <p:spPr>
          <a:xfrm>
            <a:off x="339650" y="4458043"/>
            <a:ext cx="1942401" cy="568550"/>
          </a:xfrm>
          <a:prstGeom prst="rect">
            <a:avLst/>
          </a:prstGeom>
          <a:noFill/>
          <a:ln>
            <a:noFill/>
          </a:ln>
        </p:spPr>
      </p:pic>
      <p:sp>
        <p:nvSpPr>
          <p:cNvPr id="443" name="Google Shape;443;p54"/>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444" name="Google Shape;444;p54"/>
          <p:cNvPicPr preferRelativeResize="0"/>
          <p:nvPr/>
        </p:nvPicPr>
        <p:blipFill>
          <a:blip r:embed="rId4">
            <a:alphaModFix/>
          </a:blip>
          <a:stretch>
            <a:fillRect/>
          </a:stretch>
        </p:blipFill>
        <p:spPr>
          <a:xfrm>
            <a:off x="200525" y="4417322"/>
            <a:ext cx="2220650" cy="650000"/>
          </a:xfrm>
          <a:prstGeom prst="rect">
            <a:avLst/>
          </a:prstGeom>
          <a:noFill/>
          <a:ln>
            <a:noFill/>
          </a:ln>
        </p:spPr>
      </p:pic>
      <p:cxnSp>
        <p:nvCxnSpPr>
          <p:cNvPr id="445" name="Google Shape;445;p54"/>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446" name="Google Shape;446;p54"/>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grpSp>
        <p:nvGrpSpPr>
          <p:cNvPr id="447" name="Google Shape;447;p54"/>
          <p:cNvGrpSpPr/>
          <p:nvPr/>
        </p:nvGrpSpPr>
        <p:grpSpPr>
          <a:xfrm>
            <a:off x="6660544" y="1315339"/>
            <a:ext cx="2181471" cy="938025"/>
            <a:chOff x="4767303" y="460304"/>
            <a:chExt cx="2908628" cy="1250700"/>
          </a:xfrm>
        </p:grpSpPr>
        <p:sp>
          <p:nvSpPr>
            <p:cNvPr id="448" name="Google Shape;448;p54"/>
            <p:cNvSpPr/>
            <p:nvPr/>
          </p:nvSpPr>
          <p:spPr>
            <a:xfrm>
              <a:off x="4767303" y="460304"/>
              <a:ext cx="2645400" cy="1250700"/>
            </a:xfrm>
            <a:prstGeom prst="roundRect">
              <a:avLst>
                <a:gd fmla="val 16667" name="adj"/>
              </a:avLst>
            </a:prstGeom>
            <a:solidFill>
              <a:srgbClr val="FFFFFF"/>
            </a:solidFill>
            <a:ln cap="rnd" cmpd="sng" w="15875">
              <a:solidFill>
                <a:srgbClr val="011B2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entury Gothic"/>
                <a:ea typeface="Century Gothic"/>
                <a:cs typeface="Century Gothic"/>
                <a:sym typeface="Century Gothic"/>
              </a:endParaRPr>
            </a:p>
          </p:txBody>
        </p:sp>
        <p:sp>
          <p:nvSpPr>
            <p:cNvPr id="449" name="Google Shape;449;p54"/>
            <p:cNvSpPr txBox="1"/>
            <p:nvPr/>
          </p:nvSpPr>
          <p:spPr>
            <a:xfrm>
              <a:off x="4932731" y="597410"/>
              <a:ext cx="2743200" cy="62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300">
                  <a:latin typeface="Century Gothic"/>
                  <a:ea typeface="Century Gothic"/>
                  <a:cs typeface="Century Gothic"/>
                  <a:sym typeface="Century Gothic"/>
                </a:rPr>
                <a:t>Can scale to rural Alaskan communities</a:t>
              </a:r>
              <a:endParaRPr sz="1000"/>
            </a:p>
          </p:txBody>
        </p:sp>
      </p:grpSp>
      <p:grpSp>
        <p:nvGrpSpPr>
          <p:cNvPr id="450" name="Google Shape;450;p54"/>
          <p:cNvGrpSpPr/>
          <p:nvPr/>
        </p:nvGrpSpPr>
        <p:grpSpPr>
          <a:xfrm>
            <a:off x="6665563" y="2890135"/>
            <a:ext cx="2089800" cy="938025"/>
            <a:chOff x="8821510" y="1711134"/>
            <a:chExt cx="2786400" cy="1250700"/>
          </a:xfrm>
        </p:grpSpPr>
        <p:sp>
          <p:nvSpPr>
            <p:cNvPr id="451" name="Google Shape;451;p54"/>
            <p:cNvSpPr/>
            <p:nvPr/>
          </p:nvSpPr>
          <p:spPr>
            <a:xfrm>
              <a:off x="8821718" y="1711134"/>
              <a:ext cx="2645400" cy="1250700"/>
            </a:xfrm>
            <a:prstGeom prst="roundRect">
              <a:avLst>
                <a:gd fmla="val 16667" name="adj"/>
              </a:avLst>
            </a:prstGeom>
            <a:solidFill>
              <a:srgbClr val="FFFFFF"/>
            </a:solidFill>
            <a:ln cap="rnd" cmpd="sng" w="15875">
              <a:solidFill>
                <a:srgbClr val="011B2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entury Gothic"/>
                <a:ea typeface="Century Gothic"/>
                <a:cs typeface="Century Gothic"/>
                <a:sym typeface="Century Gothic"/>
              </a:endParaRPr>
            </a:p>
          </p:txBody>
        </p:sp>
        <p:sp>
          <p:nvSpPr>
            <p:cNvPr id="452" name="Google Shape;452;p54"/>
            <p:cNvSpPr txBox="1"/>
            <p:nvPr/>
          </p:nvSpPr>
          <p:spPr>
            <a:xfrm>
              <a:off x="8821510" y="2023021"/>
              <a:ext cx="2786400" cy="62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300">
                  <a:latin typeface="Century Gothic"/>
                  <a:ea typeface="Century Gothic"/>
                  <a:cs typeface="Century Gothic"/>
                  <a:sym typeface="Century Gothic"/>
                </a:rPr>
                <a:t>People can practice/ configure on their own</a:t>
              </a:r>
              <a:endParaRPr sz="1100"/>
            </a:p>
          </p:txBody>
        </p:sp>
      </p:grpSp>
      <p:grpSp>
        <p:nvGrpSpPr>
          <p:cNvPr id="453" name="Google Shape;453;p54"/>
          <p:cNvGrpSpPr/>
          <p:nvPr/>
        </p:nvGrpSpPr>
        <p:grpSpPr>
          <a:xfrm>
            <a:off x="2902446" y="2890136"/>
            <a:ext cx="2057537" cy="938025"/>
            <a:chOff x="4767303" y="2961965"/>
            <a:chExt cx="2743382" cy="1250700"/>
          </a:xfrm>
        </p:grpSpPr>
        <p:sp>
          <p:nvSpPr>
            <p:cNvPr id="454" name="Google Shape;454;p54"/>
            <p:cNvSpPr/>
            <p:nvPr/>
          </p:nvSpPr>
          <p:spPr>
            <a:xfrm>
              <a:off x="4767303" y="2961965"/>
              <a:ext cx="2645400" cy="1250700"/>
            </a:xfrm>
            <a:prstGeom prst="roundRect">
              <a:avLst>
                <a:gd fmla="val 16667" name="adj"/>
              </a:avLst>
            </a:prstGeom>
            <a:solidFill>
              <a:srgbClr val="FFFFFF"/>
            </a:solidFill>
            <a:ln cap="rnd" cmpd="sng" w="15875">
              <a:solidFill>
                <a:srgbClr val="011B2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entury Gothic"/>
                <a:ea typeface="Century Gothic"/>
                <a:cs typeface="Century Gothic"/>
                <a:sym typeface="Century Gothic"/>
              </a:endParaRPr>
            </a:p>
          </p:txBody>
        </p:sp>
        <p:sp>
          <p:nvSpPr>
            <p:cNvPr id="455" name="Google Shape;455;p54"/>
            <p:cNvSpPr txBox="1"/>
            <p:nvPr/>
          </p:nvSpPr>
          <p:spPr>
            <a:xfrm>
              <a:off x="4767485" y="3260923"/>
              <a:ext cx="2743200" cy="359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300">
                  <a:latin typeface="Century Gothic"/>
                  <a:ea typeface="Century Gothic"/>
                  <a:cs typeface="Century Gothic"/>
                  <a:sym typeface="Century Gothic"/>
                </a:rPr>
                <a:t>Cost-effective setup</a:t>
              </a:r>
              <a:endParaRPr sz="1000"/>
            </a:p>
          </p:txBody>
        </p:sp>
      </p:grpSp>
      <p:grpSp>
        <p:nvGrpSpPr>
          <p:cNvPr id="456" name="Google Shape;456;p54"/>
          <p:cNvGrpSpPr/>
          <p:nvPr/>
        </p:nvGrpSpPr>
        <p:grpSpPr>
          <a:xfrm>
            <a:off x="2902432" y="1315352"/>
            <a:ext cx="2116539" cy="938025"/>
            <a:chOff x="684132" y="1711135"/>
            <a:chExt cx="2822052" cy="1250700"/>
          </a:xfrm>
        </p:grpSpPr>
        <p:sp>
          <p:nvSpPr>
            <p:cNvPr id="457" name="Google Shape;457;p54"/>
            <p:cNvSpPr/>
            <p:nvPr/>
          </p:nvSpPr>
          <p:spPr>
            <a:xfrm>
              <a:off x="684132" y="1711135"/>
              <a:ext cx="2645400" cy="1250700"/>
            </a:xfrm>
            <a:prstGeom prst="roundRect">
              <a:avLst>
                <a:gd fmla="val 16667" name="adj"/>
              </a:avLst>
            </a:prstGeom>
            <a:solidFill>
              <a:srgbClr val="FFFFFF"/>
            </a:solidFill>
            <a:ln cap="rnd" cmpd="sng" w="15875">
              <a:solidFill>
                <a:srgbClr val="011B2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entury Gothic"/>
                <a:ea typeface="Century Gothic"/>
                <a:cs typeface="Century Gothic"/>
                <a:sym typeface="Century Gothic"/>
              </a:endParaRPr>
            </a:p>
          </p:txBody>
        </p:sp>
        <p:sp>
          <p:nvSpPr>
            <p:cNvPr id="458" name="Google Shape;458;p54"/>
            <p:cNvSpPr txBox="1"/>
            <p:nvPr/>
          </p:nvSpPr>
          <p:spPr>
            <a:xfrm>
              <a:off x="762984" y="1967153"/>
              <a:ext cx="2743200" cy="62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1300">
                  <a:latin typeface="Century Gothic"/>
                  <a:ea typeface="Century Gothic"/>
                  <a:cs typeface="Century Gothic"/>
                  <a:sym typeface="Century Gothic"/>
                </a:rPr>
                <a:t>Training effective on tested groups</a:t>
              </a:r>
              <a:endParaRPr sz="1000"/>
            </a:p>
          </p:txBody>
        </p:sp>
      </p:grpSp>
      <p:sp>
        <p:nvSpPr>
          <p:cNvPr id="459" name="Google Shape;459;p54"/>
          <p:cNvSpPr/>
          <p:nvPr/>
        </p:nvSpPr>
        <p:spPr>
          <a:xfrm>
            <a:off x="5295127" y="3180813"/>
            <a:ext cx="1035300" cy="355800"/>
          </a:xfrm>
          <a:prstGeom prst="leftRightArrow">
            <a:avLst>
              <a:gd fmla="val 50000" name="adj1"/>
              <a:gd fmla="val 50000" name="adj2"/>
            </a:avLst>
          </a:prstGeom>
          <a:solidFill>
            <a:srgbClr val="052F61"/>
          </a:solidFill>
          <a:ln cap="rnd" cmpd="sng" w="15875">
            <a:solidFill>
              <a:srgbClr val="011B2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entury Gothic"/>
              <a:ea typeface="Century Gothic"/>
              <a:cs typeface="Century Gothic"/>
              <a:sym typeface="Century Gothic"/>
            </a:endParaRPr>
          </a:p>
        </p:txBody>
      </p:sp>
      <p:sp>
        <p:nvSpPr>
          <p:cNvPr id="460" name="Google Shape;460;p54"/>
          <p:cNvSpPr/>
          <p:nvPr/>
        </p:nvSpPr>
        <p:spPr>
          <a:xfrm>
            <a:off x="5288715" y="1606500"/>
            <a:ext cx="1035300" cy="355800"/>
          </a:xfrm>
          <a:prstGeom prst="leftRightArrow">
            <a:avLst>
              <a:gd fmla="val 50000" name="adj1"/>
              <a:gd fmla="val 50000" name="adj2"/>
            </a:avLst>
          </a:prstGeom>
          <a:solidFill>
            <a:srgbClr val="052F61"/>
          </a:solidFill>
          <a:ln cap="rnd" cmpd="sng" w="15875">
            <a:solidFill>
              <a:srgbClr val="011B2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entury Gothic"/>
              <a:ea typeface="Century Gothic"/>
              <a:cs typeface="Century Gothic"/>
              <a:sym typeface="Century Gothic"/>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4" name="Shape 464"/>
        <p:cNvGrpSpPr/>
        <p:nvPr/>
      </p:nvGrpSpPr>
      <p:grpSpPr>
        <a:xfrm>
          <a:off x="0" y="0"/>
          <a:ext cx="0" cy="0"/>
          <a:chOff x="0" y="0"/>
          <a:chExt cx="0" cy="0"/>
        </a:xfrm>
      </p:grpSpPr>
      <p:sp>
        <p:nvSpPr>
          <p:cNvPr id="465" name="Google Shape;465;p55"/>
          <p:cNvSpPr txBox="1"/>
          <p:nvPr>
            <p:ph type="title"/>
          </p:nvPr>
        </p:nvSpPr>
        <p:spPr>
          <a:xfrm>
            <a:off x="2553925" y="15352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Future Directions</a:t>
            </a:r>
            <a:endParaRPr>
              <a:solidFill>
                <a:srgbClr val="3D85C6"/>
              </a:solidFill>
            </a:endParaRPr>
          </a:p>
        </p:txBody>
      </p:sp>
      <p:sp>
        <p:nvSpPr>
          <p:cNvPr id="466" name="Google Shape;466;p55"/>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467" name="Google Shape;467;p55"/>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468" name="Google Shape;468;p55"/>
          <p:cNvSpPr txBox="1"/>
          <p:nvPr/>
        </p:nvSpPr>
        <p:spPr>
          <a:xfrm>
            <a:off x="2794075" y="1296975"/>
            <a:ext cx="6156300" cy="25398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Calibri"/>
              <a:buChar char="●"/>
            </a:pPr>
            <a:r>
              <a:rPr lang="en" sz="1700">
                <a:latin typeface="Calibri"/>
                <a:ea typeface="Calibri"/>
                <a:cs typeface="Calibri"/>
                <a:sym typeface="Calibri"/>
              </a:rPr>
              <a:t>Modules 3, 4…</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The training ground I built</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Additional security practices</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Etc.</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n" sz="1700">
                <a:solidFill>
                  <a:schemeClr val="dk1"/>
                </a:solidFill>
                <a:latin typeface="Calibri"/>
                <a:ea typeface="Calibri"/>
                <a:cs typeface="Calibri"/>
                <a:sym typeface="Calibri"/>
              </a:rPr>
              <a:t>Portability + Scalability</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Further testing, deployment to communities, impact data collection</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n" sz="1700">
                <a:latin typeface="Calibri"/>
                <a:ea typeface="Calibri"/>
                <a:cs typeface="Calibri"/>
                <a:sym typeface="Calibri"/>
              </a:rPr>
              <a:t>Different hardware configurations</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Cabling, reduction of devices, et</a:t>
            </a:r>
            <a:r>
              <a:rPr lang="en" sz="1700">
                <a:latin typeface="Calibri"/>
                <a:ea typeface="Calibri"/>
                <a:cs typeface="Calibri"/>
                <a:sym typeface="Calibri"/>
              </a:rPr>
              <a:t>c. </a:t>
            </a:r>
            <a:endParaRPr sz="1700">
              <a:latin typeface="Calibri"/>
              <a:ea typeface="Calibri"/>
              <a:cs typeface="Calibri"/>
              <a:sym typeface="Calibri"/>
            </a:endParaRPr>
          </a:p>
        </p:txBody>
      </p:sp>
      <p:sp>
        <p:nvSpPr>
          <p:cNvPr id="469" name="Google Shape;469;p55"/>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470" name="Google Shape;470;p55"/>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471" name="Google Shape;471;p55"/>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472" name="Google Shape;472;p55"/>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6"/>
          <p:cNvSpPr txBox="1"/>
          <p:nvPr>
            <p:ph type="title"/>
          </p:nvPr>
        </p:nvSpPr>
        <p:spPr>
          <a:xfrm>
            <a:off x="2553925" y="-30075"/>
            <a:ext cx="6636600" cy="9393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2D4970"/>
              </a:buClr>
              <a:buSzPts val="3300"/>
              <a:buFont typeface="Helvetica Neue"/>
              <a:buNone/>
            </a:pPr>
            <a:r>
              <a:rPr b="1" lang="en">
                <a:solidFill>
                  <a:srgbClr val="3D85C6"/>
                </a:solidFill>
                <a:latin typeface="Helvetica Neue"/>
                <a:ea typeface="Helvetica Neue"/>
                <a:cs typeface="Helvetica Neue"/>
                <a:sym typeface="Helvetica Neue"/>
              </a:rPr>
              <a:t>Conclusion</a:t>
            </a:r>
            <a:r>
              <a:rPr b="1" lang="en">
                <a:solidFill>
                  <a:srgbClr val="3D85C6"/>
                </a:solidFill>
                <a:latin typeface="Helvetica Neue"/>
                <a:ea typeface="Helvetica Neue"/>
                <a:cs typeface="Helvetica Neue"/>
                <a:sym typeface="Helvetica Neue"/>
              </a:rPr>
              <a:t> </a:t>
            </a:r>
            <a:endParaRPr>
              <a:solidFill>
                <a:srgbClr val="3D85C6"/>
              </a:solidFill>
            </a:endParaRPr>
          </a:p>
        </p:txBody>
      </p:sp>
      <p:sp>
        <p:nvSpPr>
          <p:cNvPr id="478" name="Google Shape;478;p56"/>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479" name="Google Shape;479;p56"/>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480" name="Google Shape;480;p56"/>
          <p:cNvSpPr txBox="1"/>
          <p:nvPr/>
        </p:nvSpPr>
        <p:spPr>
          <a:xfrm>
            <a:off x="2903000" y="1296963"/>
            <a:ext cx="6156300" cy="25398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Calibri"/>
              <a:buChar char="●"/>
            </a:pPr>
            <a:r>
              <a:rPr lang="en" sz="1700">
                <a:latin typeface="Calibri"/>
                <a:ea typeface="Calibri"/>
                <a:cs typeface="Calibri"/>
                <a:sym typeface="Calibri"/>
              </a:rPr>
              <a:t>Successful trainings as proving ground</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n" sz="1700">
                <a:latin typeface="Calibri"/>
                <a:ea typeface="Calibri"/>
                <a:cs typeface="Calibri"/>
                <a:sym typeface="Calibri"/>
              </a:rPr>
              <a:t>I learned </a:t>
            </a:r>
            <a:r>
              <a:rPr b="1" lang="en" sz="1700">
                <a:latin typeface="Calibri"/>
                <a:ea typeface="Calibri"/>
                <a:cs typeface="Calibri"/>
                <a:sym typeface="Calibri"/>
              </a:rPr>
              <a:t>so much</a:t>
            </a:r>
            <a:r>
              <a:rPr lang="en" sz="1700">
                <a:latin typeface="Calibri"/>
                <a:ea typeface="Calibri"/>
                <a:cs typeface="Calibri"/>
                <a:sym typeface="Calibri"/>
              </a:rPr>
              <a:t> </a:t>
            </a:r>
            <a:endParaRPr sz="1700">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Future directions:</a:t>
            </a:r>
            <a:endParaRPr sz="1700">
              <a:solidFill>
                <a:schemeClr val="dk1"/>
              </a:solidFill>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Additional modules, testing, deployment</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n" sz="1700">
                <a:latin typeface="Calibri"/>
                <a:ea typeface="Calibri"/>
                <a:cs typeface="Calibri"/>
                <a:sym typeface="Calibri"/>
              </a:rPr>
              <a:t>Enjoy least: </a:t>
            </a:r>
            <a:endParaRPr sz="1700">
              <a:latin typeface="Calibri"/>
              <a:ea typeface="Calibri"/>
              <a:cs typeface="Calibri"/>
              <a:sym typeface="Calibri"/>
            </a:endParaRPr>
          </a:p>
          <a:p>
            <a:pPr indent="-336550" lvl="1" marL="914400" rtl="0" algn="l">
              <a:spcBef>
                <a:spcPts val="0"/>
              </a:spcBef>
              <a:spcAft>
                <a:spcPts val="0"/>
              </a:spcAft>
              <a:buSzPts val="1700"/>
              <a:buFont typeface="Calibri"/>
              <a:buChar char="○"/>
            </a:pPr>
            <a:r>
              <a:rPr lang="en" sz="1700">
                <a:latin typeface="Calibri"/>
                <a:ea typeface="Calibri"/>
                <a:cs typeface="Calibri"/>
                <a:sym typeface="Calibri"/>
              </a:rPr>
              <a:t>Debugging simple mistakes</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n" sz="1700">
                <a:solidFill>
                  <a:schemeClr val="dk1"/>
                </a:solidFill>
                <a:latin typeface="Calibri"/>
                <a:ea typeface="Calibri"/>
                <a:cs typeface="Calibri"/>
                <a:sym typeface="Calibri"/>
              </a:rPr>
              <a:t>Enjoy most: </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Font typeface="Calibri"/>
              <a:buChar char="○"/>
            </a:pPr>
            <a:r>
              <a:rPr lang="en" sz="1700">
                <a:solidFill>
                  <a:schemeClr val="dk1"/>
                </a:solidFill>
                <a:latin typeface="Calibri"/>
                <a:ea typeface="Calibri"/>
                <a:cs typeface="Calibri"/>
                <a:sym typeface="Calibri"/>
              </a:rPr>
              <a:t>Learning new topics, real skillset, bettering people's’ lives</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latin typeface="Calibri"/>
              <a:ea typeface="Calibri"/>
              <a:cs typeface="Calibri"/>
              <a:sym typeface="Calibri"/>
            </a:endParaRPr>
          </a:p>
        </p:txBody>
      </p:sp>
      <p:sp>
        <p:nvSpPr>
          <p:cNvPr id="481" name="Google Shape;481;p56"/>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482" name="Google Shape;482;p56"/>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483" name="Google Shape;483;p56"/>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484" name="Google Shape;484;p56"/>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7"/>
          <p:cNvSpPr txBox="1"/>
          <p:nvPr>
            <p:ph type="title"/>
          </p:nvPr>
        </p:nvSpPr>
        <p:spPr>
          <a:xfrm>
            <a:off x="2507400" y="1601900"/>
            <a:ext cx="6636600" cy="939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0"/>
              </a:spcBef>
              <a:spcAft>
                <a:spcPts val="0"/>
              </a:spcAft>
              <a:buClr>
                <a:srgbClr val="2D4970"/>
              </a:buClr>
              <a:buSzPts val="3300"/>
              <a:buFont typeface="Helvetica Neue"/>
              <a:buNone/>
            </a:pPr>
            <a:r>
              <a:rPr b="1" lang="en" sz="20000">
                <a:solidFill>
                  <a:srgbClr val="3D85C6"/>
                </a:solidFill>
                <a:latin typeface="Helvetica Neue"/>
                <a:ea typeface="Helvetica Neue"/>
                <a:cs typeface="Helvetica Neue"/>
                <a:sym typeface="Helvetica Neue"/>
              </a:rPr>
              <a:t>Q&amp;A</a:t>
            </a:r>
            <a:r>
              <a:rPr b="1" lang="en" sz="20000">
                <a:solidFill>
                  <a:srgbClr val="3D85C6"/>
                </a:solidFill>
                <a:latin typeface="Helvetica Neue"/>
                <a:ea typeface="Helvetica Neue"/>
                <a:cs typeface="Helvetica Neue"/>
                <a:sym typeface="Helvetica Neue"/>
              </a:rPr>
              <a:t> </a:t>
            </a:r>
            <a:endParaRPr sz="20000">
              <a:solidFill>
                <a:srgbClr val="3D85C6"/>
              </a:solidFill>
            </a:endParaRPr>
          </a:p>
        </p:txBody>
      </p:sp>
      <p:sp>
        <p:nvSpPr>
          <p:cNvPr id="490" name="Google Shape;490;p57"/>
          <p:cNvSpPr txBox="1"/>
          <p:nvPr/>
        </p:nvSpPr>
        <p:spPr>
          <a:xfrm>
            <a:off x="6955709" y="4752753"/>
            <a:ext cx="2057400" cy="2739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900" u="none" cap="none" strike="noStrike">
                <a:solidFill>
                  <a:srgbClr val="2D4970"/>
                </a:solidFill>
                <a:latin typeface="Helvetica Neue Light"/>
                <a:ea typeface="Helvetica Neue Light"/>
                <a:cs typeface="Helvetica Neue Light"/>
                <a:sym typeface="Helvetica Neue Light"/>
              </a:rPr>
              <a:t>‹#›</a:t>
            </a:fld>
            <a:endParaRPr b="0" i="0" sz="900" u="none" cap="none" strike="noStrike">
              <a:solidFill>
                <a:srgbClr val="2D4970"/>
              </a:solidFill>
              <a:latin typeface="Helvetica Neue Light"/>
              <a:ea typeface="Helvetica Neue Light"/>
              <a:cs typeface="Helvetica Neue Light"/>
              <a:sym typeface="Helvetica Neue Light"/>
            </a:endParaRPr>
          </a:p>
        </p:txBody>
      </p:sp>
      <p:pic>
        <p:nvPicPr>
          <p:cNvPr id="491" name="Google Shape;491;p57"/>
          <p:cNvPicPr preferRelativeResize="0"/>
          <p:nvPr/>
        </p:nvPicPr>
        <p:blipFill>
          <a:blip r:embed="rId3">
            <a:alphaModFix/>
          </a:blip>
          <a:stretch>
            <a:fillRect/>
          </a:stretch>
        </p:blipFill>
        <p:spPr>
          <a:xfrm>
            <a:off x="339650" y="4458043"/>
            <a:ext cx="1942401" cy="568550"/>
          </a:xfrm>
          <a:prstGeom prst="rect">
            <a:avLst/>
          </a:prstGeom>
          <a:noFill/>
          <a:ln>
            <a:noFill/>
          </a:ln>
        </p:spPr>
      </p:pic>
      <p:sp>
        <p:nvSpPr>
          <p:cNvPr id="492" name="Google Shape;492;p57"/>
          <p:cNvSpPr/>
          <p:nvPr/>
        </p:nvSpPr>
        <p:spPr>
          <a:xfrm>
            <a:off x="0" y="-4875"/>
            <a:ext cx="2621700" cy="5143500"/>
          </a:xfrm>
          <a:prstGeom prst="rect">
            <a:avLst/>
          </a:prstGeom>
          <a:solidFill>
            <a:srgbClr val="2D497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00000"/>
              </a:buClr>
              <a:buFont typeface="Arial"/>
              <a:buNone/>
            </a:pPr>
            <a:r>
              <a:t/>
            </a:r>
            <a:endParaRPr b="0" i="0" sz="1400" u="none" cap="none" strike="noStrike">
              <a:solidFill>
                <a:schemeClr val="lt1"/>
              </a:solidFill>
              <a:latin typeface="Calibri"/>
              <a:ea typeface="Calibri"/>
              <a:cs typeface="Calibri"/>
              <a:sym typeface="Calibri"/>
            </a:endParaRPr>
          </a:p>
        </p:txBody>
      </p:sp>
      <p:pic>
        <p:nvPicPr>
          <p:cNvPr id="493" name="Google Shape;493;p57"/>
          <p:cNvPicPr preferRelativeResize="0"/>
          <p:nvPr/>
        </p:nvPicPr>
        <p:blipFill>
          <a:blip r:embed="rId3">
            <a:alphaModFix/>
          </a:blip>
          <a:stretch>
            <a:fillRect/>
          </a:stretch>
        </p:blipFill>
        <p:spPr>
          <a:xfrm>
            <a:off x="200525" y="4417322"/>
            <a:ext cx="2220650" cy="650000"/>
          </a:xfrm>
          <a:prstGeom prst="rect">
            <a:avLst/>
          </a:prstGeom>
          <a:noFill/>
          <a:ln>
            <a:noFill/>
          </a:ln>
        </p:spPr>
      </p:pic>
      <p:cxnSp>
        <p:nvCxnSpPr>
          <p:cNvPr id="494" name="Google Shape;494;p57"/>
          <p:cNvCxnSpPr/>
          <p:nvPr/>
        </p:nvCxnSpPr>
        <p:spPr>
          <a:xfrm>
            <a:off x="2606850" y="-30075"/>
            <a:ext cx="9900" cy="5193900"/>
          </a:xfrm>
          <a:prstGeom prst="straightConnector1">
            <a:avLst/>
          </a:prstGeom>
          <a:noFill/>
          <a:ln cap="flat" cmpd="sng" w="28575">
            <a:solidFill>
              <a:schemeClr val="accent4"/>
            </a:solidFill>
            <a:prstDash val="solid"/>
            <a:round/>
            <a:headEnd len="med" w="med" type="none"/>
            <a:tailEnd len="med" w="med" type="none"/>
          </a:ln>
        </p:spPr>
      </p:cxnSp>
      <p:sp>
        <p:nvSpPr>
          <p:cNvPr id="495" name="Google Shape;495;p57"/>
          <p:cNvSpPr txBox="1"/>
          <p:nvPr/>
        </p:nvSpPr>
        <p:spPr>
          <a:xfrm>
            <a:off x="-90300" y="1083500"/>
            <a:ext cx="2802300" cy="518400"/>
          </a:xfrm>
          <a:prstGeom prst="rect">
            <a:avLst/>
          </a:prstGeom>
          <a:noFill/>
          <a:ln>
            <a:noFill/>
          </a:ln>
        </p:spPr>
        <p:txBody>
          <a:bodyPr anchorCtr="0" anchor="ctr" bIns="34275" lIns="137150" spcFirstLastPara="1" rIns="137150" wrap="square" tIns="34275">
            <a:noAutofit/>
          </a:bodyPr>
          <a:lstStyle/>
          <a:p>
            <a:pPr indent="0" lvl="0" marL="0" marR="0" rtl="0" algn="l">
              <a:lnSpc>
                <a:spcPct val="80000"/>
              </a:lnSpc>
              <a:spcBef>
                <a:spcPts val="0"/>
              </a:spcBef>
              <a:spcAft>
                <a:spcPts val="0"/>
              </a:spcAft>
              <a:buClr>
                <a:schemeClr val="lt1"/>
              </a:buClr>
              <a:buSzPts val="1400"/>
              <a:buFont typeface="Arial"/>
              <a:buNone/>
            </a:pPr>
            <a:r>
              <a:rPr b="1" lang="en" u="sng">
                <a:solidFill>
                  <a:schemeClr val="lt1"/>
                </a:solidFill>
                <a:latin typeface="Helvetica Neue"/>
                <a:ea typeface="Helvetica Neue"/>
                <a:cs typeface="Helvetica Neue"/>
                <a:sym typeface="Helvetica Neue"/>
                <a:hlinkClick r:id="rId4">
                  <a:extLst>
                    <a:ext uri="{A12FA001-AC4F-418D-AE19-62706E023703}">
                      <ahyp:hlinkClr val="tx"/>
                    </a:ext>
                  </a:extLst>
                </a:hlinkClick>
              </a:rPr>
              <a:t>caden_kelly@berkeley.edu</a:t>
            </a:r>
            <a:br>
              <a:rPr b="1" lang="en" u="sng">
                <a:solidFill>
                  <a:schemeClr val="lt1"/>
                </a:solidFill>
                <a:latin typeface="Helvetica Neue"/>
                <a:ea typeface="Helvetica Neue"/>
                <a:cs typeface="Helvetica Neue"/>
                <a:sym typeface="Helvetica Neue"/>
              </a:rPr>
            </a:br>
            <a:br>
              <a:rPr b="1" lang="en" u="sng">
                <a:solidFill>
                  <a:schemeClr val="lt1"/>
                </a:solidFill>
                <a:latin typeface="Helvetica Neue"/>
                <a:ea typeface="Helvetica Neue"/>
                <a:cs typeface="Helvetica Neue"/>
                <a:sym typeface="Helvetica Neue"/>
              </a:rPr>
            </a:br>
            <a:r>
              <a:rPr b="1" lang="en" u="sng">
                <a:solidFill>
                  <a:schemeClr val="lt1"/>
                </a:solidFill>
                <a:latin typeface="Helvetica Neue"/>
                <a:ea typeface="Helvetica Neue"/>
                <a:cs typeface="Helvetica Neue"/>
                <a:sym typeface="Helvetica Neue"/>
                <a:hlinkClick r:id="rId5">
                  <a:extLst>
                    <a:ext uri="{A12FA001-AC4F-418D-AE19-62706E023703}">
                      <ahyp:hlinkClr val="tx"/>
                    </a:ext>
                  </a:extLst>
                </a:hlinkClick>
              </a:rPr>
              <a:t>linkedin.com/in/caden-kelly-91574937b</a:t>
            </a:r>
            <a:endParaRPr b="1" u="sng">
              <a:solidFill>
                <a:schemeClr val="lt1"/>
              </a:solidFill>
              <a:latin typeface="Helvetica Neue"/>
              <a:ea typeface="Helvetica Neue"/>
              <a:cs typeface="Helvetica Neue"/>
              <a:sym typeface="Helvetica Neue"/>
            </a:endParaRPr>
          </a:p>
        </p:txBody>
      </p:sp>
      <p:sp>
        <p:nvSpPr>
          <p:cNvPr id="496" name="Google Shape;496;p57"/>
          <p:cNvSpPr txBox="1"/>
          <p:nvPr>
            <p:ph type="title"/>
          </p:nvPr>
        </p:nvSpPr>
        <p:spPr>
          <a:xfrm>
            <a:off x="339600" y="72324"/>
            <a:ext cx="1942500" cy="11034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lt1"/>
              </a:buClr>
              <a:buSzPts val="4050"/>
              <a:buFont typeface="Helvetica Neue"/>
              <a:buNone/>
            </a:pPr>
            <a:r>
              <a:rPr b="1" lang="en" sz="2250">
                <a:solidFill>
                  <a:schemeClr val="lt1"/>
                </a:solidFill>
                <a:latin typeface="Helvetica Neue"/>
                <a:ea typeface="Helvetica Neue"/>
                <a:cs typeface="Helvetica Neue"/>
                <a:sym typeface="Helvetica Neue"/>
              </a:rPr>
              <a:t>C</a:t>
            </a:r>
            <a:r>
              <a:rPr b="1" lang="en" sz="2250">
                <a:solidFill>
                  <a:schemeClr val="lt1"/>
                </a:solidFill>
                <a:latin typeface="Helvetica Neue"/>
                <a:ea typeface="Helvetica Neue"/>
                <a:cs typeface="Helvetica Neue"/>
                <a:sym typeface="Helvetica Neue"/>
              </a:rPr>
              <a:t>ontact </a:t>
            </a:r>
            <a:endParaRPr sz="1170"/>
          </a:p>
        </p:txBody>
      </p:sp>
      <p:sp>
        <p:nvSpPr>
          <p:cNvPr id="497" name="Google Shape;497;p57"/>
          <p:cNvSpPr txBox="1"/>
          <p:nvPr/>
        </p:nvSpPr>
        <p:spPr>
          <a:xfrm>
            <a:off x="2011408" y="4630488"/>
            <a:ext cx="7001700" cy="518400"/>
          </a:xfrm>
          <a:prstGeom prst="rect">
            <a:avLst/>
          </a:prstGeom>
          <a:noFill/>
          <a:ln>
            <a:noFill/>
          </a:ln>
        </p:spPr>
        <p:txBody>
          <a:bodyPr anchorCtr="0" anchor="ctr" bIns="34275" lIns="68575" spcFirstLastPara="1" rIns="274325" wrap="square" tIns="34275">
            <a:normAutofit/>
          </a:bodyPr>
          <a:lstStyle/>
          <a:p>
            <a:pPr indent="0" lvl="0" marL="0" marR="0" rtl="0" algn="r">
              <a:lnSpc>
                <a:spcPct val="90000"/>
              </a:lnSpc>
              <a:spcBef>
                <a:spcPts val="0"/>
              </a:spcBef>
              <a:spcAft>
                <a:spcPts val="0"/>
              </a:spcAft>
              <a:buClr>
                <a:srgbClr val="383D47"/>
              </a:buClr>
              <a:buSzPts val="1500"/>
              <a:buFont typeface="Arial"/>
              <a:buNone/>
            </a:pPr>
            <a:r>
              <a:rPr lang="en" sz="1500">
                <a:solidFill>
                  <a:srgbClr val="3D85C6"/>
                </a:solidFill>
                <a:latin typeface="Helvetica Neue Light"/>
                <a:ea typeface="Helvetica Neue Light"/>
                <a:cs typeface="Helvetica Neue Light"/>
                <a:sym typeface="Helvetica Neue Light"/>
              </a:rPr>
              <a:t>Caden Kelly</a:t>
            </a:r>
            <a:r>
              <a:rPr b="0" i="0" lang="en" sz="1500" u="none" cap="none" strike="noStrike">
                <a:solidFill>
                  <a:srgbClr val="3D85C6"/>
                </a:solidFill>
                <a:latin typeface="Helvetica Neue Light"/>
                <a:ea typeface="Helvetica Neue Light"/>
                <a:cs typeface="Helvetica Neue Light"/>
                <a:sym typeface="Helvetica Neue Light"/>
              </a:rPr>
              <a:t> ● </a:t>
            </a:r>
            <a:r>
              <a:rPr lang="en" sz="1500">
                <a:solidFill>
                  <a:srgbClr val="3D85C6"/>
                </a:solidFill>
                <a:latin typeface="Helvetica Neue Light"/>
                <a:ea typeface="Helvetica Neue Light"/>
                <a:cs typeface="Helvetica Neue Light"/>
                <a:sym typeface="Helvetica Neue Light"/>
              </a:rPr>
              <a:t>Alaska Center for Energy and Power</a:t>
            </a:r>
            <a:endParaRPr sz="1100">
              <a:solidFill>
                <a:srgbClr val="3D85C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